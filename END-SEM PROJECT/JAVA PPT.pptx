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7" r:id="rId4"/>
    <p:sldId id="259" r:id="rId5"/>
    <p:sldId id="260" r:id="rId6"/>
    <p:sldId id="261" r:id="rId7"/>
    <p:sldId id="262" r:id="rId8"/>
    <p:sldId id="263" r:id="rId9"/>
    <p:sldId id="258" r:id="rId10"/>
    <p:sldId id="267" r:id="rId11"/>
    <p:sldId id="276"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th Kamal Vydhyabhushana" userId="080ce38f2095a4af" providerId="LiveId" clId="{35AB7039-A8C7-4011-B8F6-0C6AE6CE6B70}"/>
    <pc:docChg chg="delSld modSld sldOrd">
      <pc:chgData name="Mohith Kamal Vydhyabhushana" userId="080ce38f2095a4af" providerId="LiveId" clId="{35AB7039-A8C7-4011-B8F6-0C6AE6CE6B70}" dt="2026-10-16T09:16:40.283" v="101" actId="1076"/>
      <pc:docMkLst>
        <pc:docMk/>
      </pc:docMkLst>
      <pc:sldChg chg="modSp mod">
        <pc:chgData name="Mohith Kamal Vydhyabhushana" userId="080ce38f2095a4af" providerId="LiveId" clId="{35AB7039-A8C7-4011-B8F6-0C6AE6CE6B70}" dt="2026-10-15T17:31:22.399" v="77" actId="20577"/>
        <pc:sldMkLst>
          <pc:docMk/>
          <pc:sldMk cId="0" sldId="256"/>
        </pc:sldMkLst>
        <pc:spChg chg="mod">
          <ac:chgData name="Mohith Kamal Vydhyabhushana" userId="080ce38f2095a4af" providerId="LiveId" clId="{35AB7039-A8C7-4011-B8F6-0C6AE6CE6B70}" dt="2026-10-15T17:31:22.399" v="77" actId="20577"/>
          <ac:spMkLst>
            <pc:docMk/>
            <pc:sldMk cId="0" sldId="256"/>
            <ac:spMk id="23" creationId="{00000000-0000-0000-0000-000000000000}"/>
          </ac:spMkLst>
        </pc:spChg>
      </pc:sldChg>
      <pc:sldChg chg="modSp mod">
        <pc:chgData name="Mohith Kamal Vydhyabhushana" userId="080ce38f2095a4af" providerId="LiveId" clId="{35AB7039-A8C7-4011-B8F6-0C6AE6CE6B70}" dt="2026-10-15T17:31:44.525" v="78" actId="20577"/>
        <pc:sldMkLst>
          <pc:docMk/>
          <pc:sldMk cId="0" sldId="257"/>
        </pc:sldMkLst>
        <pc:spChg chg="mod">
          <ac:chgData name="Mohith Kamal Vydhyabhushana" userId="080ce38f2095a4af" providerId="LiveId" clId="{35AB7039-A8C7-4011-B8F6-0C6AE6CE6B70}" dt="2026-10-15T17:31:44.525" v="78" actId="20577"/>
          <ac:spMkLst>
            <pc:docMk/>
            <pc:sldMk cId="0" sldId="257"/>
            <ac:spMk id="28" creationId="{B7AFDDE1-64D9-5F04-9DA2-FD70C3B5664F}"/>
          </ac:spMkLst>
        </pc:spChg>
      </pc:sldChg>
      <pc:sldChg chg="ord">
        <pc:chgData name="Mohith Kamal Vydhyabhushana" userId="080ce38f2095a4af" providerId="LiveId" clId="{35AB7039-A8C7-4011-B8F6-0C6AE6CE6B70}" dt="2026-10-15T17:28:24.352" v="2"/>
        <pc:sldMkLst>
          <pc:docMk/>
          <pc:sldMk cId="0" sldId="258"/>
        </pc:sldMkLst>
      </pc:sldChg>
      <pc:sldChg chg="del">
        <pc:chgData name="Mohith Kamal Vydhyabhushana" userId="080ce38f2095a4af" providerId="LiveId" clId="{35AB7039-A8C7-4011-B8F6-0C6AE6CE6B70}" dt="2026-10-15T17:23:00.979" v="0" actId="2696"/>
        <pc:sldMkLst>
          <pc:docMk/>
          <pc:sldMk cId="0" sldId="265"/>
        </pc:sldMkLst>
      </pc:sldChg>
      <pc:sldChg chg="addSp modSp mod">
        <pc:chgData name="Mohith Kamal Vydhyabhushana" userId="080ce38f2095a4af" providerId="LiveId" clId="{35AB7039-A8C7-4011-B8F6-0C6AE6CE6B70}" dt="2026-10-16T09:16:40.283" v="101" actId="1076"/>
        <pc:sldMkLst>
          <pc:docMk/>
          <pc:sldMk cId="0" sldId="276"/>
        </pc:sldMkLst>
        <pc:spChg chg="add mod">
          <ac:chgData name="Mohith Kamal Vydhyabhushana" userId="080ce38f2095a4af" providerId="LiveId" clId="{35AB7039-A8C7-4011-B8F6-0C6AE6CE6B70}" dt="2026-10-16T09:16:40.283" v="101" actId="1076"/>
          <ac:spMkLst>
            <pc:docMk/>
            <pc:sldMk cId="0" sldId="276"/>
            <ac:spMk id="9" creationId="{7E9BCCCD-EB05-50F7-3245-59D5C5AC7400}"/>
          </ac:spMkLst>
        </pc:spChg>
        <pc:picChg chg="add mod">
          <ac:chgData name="Mohith Kamal Vydhyabhushana" userId="080ce38f2095a4af" providerId="LiveId" clId="{35AB7039-A8C7-4011-B8F6-0C6AE6CE6B70}" dt="2026-10-16T09:16:00.084" v="98" actId="1076"/>
          <ac:picMkLst>
            <pc:docMk/>
            <pc:sldMk cId="0" sldId="276"/>
            <ac:picMk id="7" creationId="{8FC993FB-95AC-BC27-416D-AB9AA1561CD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C34"/>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732520" y="0"/>
            <a:ext cx="3456432" cy="6858000"/>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0" y="777240"/>
            <a:ext cx="2103120" cy="109728"/>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0" y="1097280"/>
            <a:ext cx="1554480" cy="109728"/>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0" y="1417320"/>
            <a:ext cx="1828800" cy="109728"/>
          </a:xfrm>
          <a:prstGeom prst="roundRect">
            <a:avLst>
              <a:gd name="adj" fmla="val 12000"/>
            </a:avLst>
          </a:prstGeom>
          <a:solidFill>
            <a:srgbClr val="F6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052560" y="2057400"/>
            <a:ext cx="658368" cy="530352"/>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052560" y="2862072"/>
            <a:ext cx="658368" cy="530352"/>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052560" y="3666744"/>
            <a:ext cx="658368" cy="530352"/>
          </a:xfrm>
          <a:prstGeom prst="roundRect">
            <a:avLst>
              <a:gd name="adj" fmla="val 12000"/>
            </a:avLst>
          </a:prstGeom>
          <a:solidFill>
            <a:srgbClr val="274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052560" y="2057400"/>
            <a:ext cx="658368" cy="530352"/>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052560" y="2862072"/>
            <a:ext cx="658368" cy="530352"/>
          </a:xfrm>
          <a:prstGeom prst="roundRect">
            <a:avLst>
              <a:gd name="adj" fmla="val 12000"/>
            </a:avLst>
          </a:prstGeom>
          <a:solidFill>
            <a:srgbClr val="274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052560" y="3666744"/>
            <a:ext cx="658368" cy="530352"/>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052560" y="2057400"/>
            <a:ext cx="658368" cy="530352"/>
          </a:xfrm>
          <a:prstGeom prst="roundRect">
            <a:avLst>
              <a:gd name="adj" fmla="val 12000"/>
            </a:avLst>
          </a:prstGeom>
          <a:solidFill>
            <a:srgbClr val="274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052560" y="2862072"/>
            <a:ext cx="658368" cy="530352"/>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052560" y="3666744"/>
            <a:ext cx="658368" cy="530352"/>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052560" y="2057400"/>
            <a:ext cx="658368" cy="530352"/>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052560" y="2862072"/>
            <a:ext cx="658368" cy="530352"/>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52560" y="3666744"/>
            <a:ext cx="658368" cy="530352"/>
          </a:xfrm>
          <a:prstGeom prst="roundRect">
            <a:avLst>
              <a:gd name="adj" fmla="val 12000"/>
            </a:avLst>
          </a:prstGeom>
          <a:solidFill>
            <a:srgbClr val="274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685800"/>
            <a:ext cx="7132320" cy="274320"/>
          </a:xfrm>
          <a:prstGeom prst="rect">
            <a:avLst/>
          </a:prstGeom>
          <a:noFill/>
        </p:spPr>
        <p:txBody>
          <a:bodyPr wrap="square" lIns="36576" tIns="27432" rIns="36576" bIns="18288">
            <a:spAutoFit/>
          </a:bodyPr>
          <a:lstStyle/>
          <a:p>
            <a:pPr>
              <a:defRPr sz="1100" b="1">
                <a:solidFill>
                  <a:srgbClr val="38BDD2"/>
                </a:solidFill>
                <a:latin typeface="Aptos"/>
              </a:defRPr>
            </a:pPr>
            <a:r>
              <a:t>PROBLEM SOLVING USING PROGRAMMING • JAVA</a:t>
            </a:r>
          </a:p>
        </p:txBody>
      </p:sp>
      <p:sp>
        <p:nvSpPr>
          <p:cNvPr id="20" name="TextBox 19"/>
          <p:cNvSpPr txBox="1"/>
          <p:nvPr/>
        </p:nvSpPr>
        <p:spPr>
          <a:xfrm>
            <a:off x="731520" y="1417320"/>
            <a:ext cx="7498079" cy="1371600"/>
          </a:xfrm>
          <a:prstGeom prst="rect">
            <a:avLst/>
          </a:prstGeom>
          <a:noFill/>
        </p:spPr>
        <p:txBody>
          <a:bodyPr wrap="square" lIns="36576" tIns="27432" rIns="36576" bIns="18288">
            <a:spAutoFit/>
          </a:bodyPr>
          <a:lstStyle/>
          <a:p>
            <a:pPr>
              <a:defRPr sz="3400" b="1">
                <a:solidFill>
                  <a:srgbClr val="F7F9FC"/>
                </a:solidFill>
                <a:latin typeface="Aptos"/>
              </a:defRPr>
            </a:pPr>
            <a:r>
              <a:t>Course Registration</a:t>
            </a:r>
            <a:br/>
            <a:r>
              <a:t>&amp; Timetable Builder</a:t>
            </a:r>
          </a:p>
        </p:txBody>
      </p:sp>
      <p:sp>
        <p:nvSpPr>
          <p:cNvPr id="21" name="TextBox 20"/>
          <p:cNvSpPr txBox="1"/>
          <p:nvPr/>
        </p:nvSpPr>
        <p:spPr>
          <a:xfrm>
            <a:off x="758952" y="3063240"/>
            <a:ext cx="7132320" cy="731520"/>
          </a:xfrm>
          <a:prstGeom prst="rect">
            <a:avLst/>
          </a:prstGeom>
          <a:noFill/>
        </p:spPr>
        <p:txBody>
          <a:bodyPr wrap="square" lIns="36576" tIns="27432" rIns="36576" bIns="18288">
            <a:spAutoFit/>
          </a:bodyPr>
          <a:lstStyle/>
          <a:p>
            <a:pPr>
              <a:defRPr sz="1700" b="0">
                <a:solidFill>
                  <a:srgbClr val="D2DEED"/>
                </a:solidFill>
                <a:latin typeface="Aptos"/>
              </a:defRPr>
            </a:pPr>
            <a:r>
              <a:t>A constraint-aware academic scheduling and enrollment concept mapped to the PSP (Java) handout</a:t>
            </a:r>
          </a:p>
        </p:txBody>
      </p:sp>
      <p:sp>
        <p:nvSpPr>
          <p:cNvPr id="22" name="Rectangle 21"/>
          <p:cNvSpPr/>
          <p:nvPr/>
        </p:nvSpPr>
        <p:spPr>
          <a:xfrm>
            <a:off x="758952" y="4160520"/>
            <a:ext cx="6217920" cy="18288"/>
          </a:xfrm>
          <a:prstGeom prst="rect">
            <a:avLst/>
          </a:prstGeom>
          <a:solidFill>
            <a:srgbClr val="435B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8952" y="4434840"/>
            <a:ext cx="7132320" cy="846386"/>
          </a:xfrm>
          <a:prstGeom prst="rect">
            <a:avLst/>
          </a:prstGeom>
          <a:noFill/>
        </p:spPr>
        <p:txBody>
          <a:bodyPr wrap="square" lIns="36576" tIns="27432" rIns="36576" bIns="18288">
            <a:spAutoFit/>
          </a:bodyPr>
          <a:lstStyle/>
          <a:p>
            <a:pPr>
              <a:defRPr sz="1300" b="1">
                <a:solidFill>
                  <a:srgbClr val="F7F9FC"/>
                </a:solidFill>
                <a:latin typeface="Aptos"/>
              </a:defRPr>
            </a:pPr>
            <a:r>
              <a:rPr dirty="0"/>
              <a:t>PROJECT TEAM</a:t>
            </a:r>
            <a:br>
              <a:rPr dirty="0"/>
            </a:br>
            <a:r>
              <a:rPr dirty="0"/>
              <a:t>V. Mohith Kamal  </a:t>
            </a:r>
            <a:r>
              <a:rPr lang="en-IN" dirty="0"/>
              <a:t>   </a:t>
            </a:r>
            <a:r>
              <a:rPr dirty="0"/>
              <a:t>•  Sairam </a:t>
            </a:r>
            <a:r>
              <a:rPr dirty="0" err="1"/>
              <a:t>Baruvuri</a:t>
            </a:r>
            <a:r>
              <a:rPr dirty="0"/>
              <a:t> </a:t>
            </a:r>
            <a:r>
              <a:rPr lang="en-IN" dirty="0"/>
              <a:t>   </a:t>
            </a:r>
            <a:r>
              <a:rPr dirty="0"/>
              <a:t> •  Samay Gupta</a:t>
            </a:r>
            <a:endParaRPr lang="en-IN" dirty="0"/>
          </a:p>
          <a:p>
            <a:pPr>
              <a:defRPr sz="1300" b="1">
                <a:solidFill>
                  <a:srgbClr val="F7F9FC"/>
                </a:solidFill>
                <a:latin typeface="Aptos"/>
              </a:defRPr>
            </a:pPr>
            <a:endParaRPr lang="en-IN" dirty="0"/>
          </a:p>
          <a:p>
            <a:pPr>
              <a:defRPr sz="1300" b="1">
                <a:solidFill>
                  <a:srgbClr val="F7F9FC"/>
                </a:solidFill>
                <a:latin typeface="Aptos"/>
              </a:defRPr>
            </a:pPr>
            <a:r>
              <a:rPr lang="en-IN" dirty="0"/>
              <a:t>2620080012                     2620080011                2620090116</a:t>
            </a:r>
            <a:endParaRPr dirty="0"/>
          </a:p>
        </p:txBody>
      </p:sp>
      <p:sp>
        <p:nvSpPr>
          <p:cNvPr id="24" name="TextBox 23"/>
          <p:cNvSpPr txBox="1"/>
          <p:nvPr/>
        </p:nvSpPr>
        <p:spPr>
          <a:xfrm>
            <a:off x="758952" y="6172200"/>
            <a:ext cx="6858000" cy="228600"/>
          </a:xfrm>
          <a:prstGeom prst="rect">
            <a:avLst/>
          </a:prstGeom>
          <a:noFill/>
        </p:spPr>
        <p:txBody>
          <a:bodyPr wrap="square" lIns="36576" tIns="27432" rIns="36576" bIns="18288">
            <a:spAutoFit/>
          </a:bodyPr>
          <a:lstStyle/>
          <a:p>
            <a:pPr>
              <a:defRPr sz="900" b="0">
                <a:solidFill>
                  <a:srgbClr val="B4C3D6"/>
                </a:solidFill>
                <a:latin typeface="Aptos"/>
              </a:defRPr>
            </a:pPr>
            <a:r>
              <a:t>2026–2027  |  JAVA PROGRAMMING PROJECT</a:t>
            </a:r>
          </a:p>
        </p:txBody>
      </p:sp>
      <p:sp>
        <p:nvSpPr>
          <p:cNvPr id="25" name="TextBox 24"/>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B4C3D6"/>
                </a:solidFill>
                <a:latin typeface="Aptos"/>
              </a:defRPr>
            </a:pPr>
            <a:r>
              <a:t>PSP (JAVA)  •  PROJECT–SYLLABUS ALIGNMENT</a:t>
            </a:r>
          </a:p>
        </p:txBody>
      </p:sp>
      <p:sp>
        <p:nvSpPr>
          <p:cNvPr id="26" name="TextBox 25"/>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B4C3D6"/>
                </a:solidFill>
                <a:latin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2476500"/>
            <a:ext cx="10972800" cy="2847975"/>
          </a:xfrm>
          <a:prstGeom prst="roundRect">
            <a:avLst>
              <a:gd name="adj" fmla="val 401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609725" y="609600"/>
            <a:ext cx="381000" cy="1905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5314950"/>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2476500"/>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2476500"/>
            <a:ext cx="57150" cy="2847975"/>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72875" y="2476500"/>
            <a:ext cx="9525" cy="2847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600" y="78105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ABSTRACT</a:t>
            </a:r>
          </a:p>
        </p:txBody>
      </p:sp>
      <p:sp>
        <p:nvSpPr>
          <p:cNvPr id="9" name="TextBox 8"/>
          <p:cNvSpPr txBox="1"/>
          <p:nvPr/>
        </p:nvSpPr>
        <p:spPr>
          <a:xfrm>
            <a:off x="609600" y="533400"/>
            <a:ext cx="1171575" cy="171450"/>
          </a:xfrm>
          <a:prstGeom prst="rect">
            <a:avLst/>
          </a:prstGeom>
          <a:noFill/>
        </p:spPr>
        <p:txBody>
          <a:bodyPr wrap="none" lIns="0" tIns="0" rIns="0" bIns="0" anchor="t">
            <a:spAutoFit/>
          </a:bodyPr>
          <a:lstStyle/>
          <a:p>
            <a:pPr algn="l"/>
            <a:r>
              <a:rPr sz="1050" b="1" i="0" u="none">
                <a:solidFill>
                  <a:srgbClr val="0D9488"/>
                </a:solidFill>
                <a:latin typeface="Plus Jakarta Sans"/>
              </a:rPr>
              <a:t>SECTION 02</a:t>
            </a:r>
          </a:p>
        </p:txBody>
      </p:sp>
      <p:sp>
        <p:nvSpPr>
          <p:cNvPr id="10" name="TextBox 9"/>
          <p:cNvSpPr txBox="1"/>
          <p:nvPr/>
        </p:nvSpPr>
        <p:spPr>
          <a:xfrm>
            <a:off x="1085850" y="2905125"/>
            <a:ext cx="10163175" cy="900112"/>
          </a:xfrm>
          <a:prstGeom prst="rect">
            <a:avLst/>
          </a:prstGeom>
          <a:noFill/>
        </p:spPr>
        <p:txBody>
          <a:bodyPr wrap="square" lIns="0" tIns="0" rIns="0" bIns="0" anchor="t">
            <a:spAutoFit/>
          </a:bodyPr>
          <a:lstStyle/>
          <a:p>
            <a:pPr algn="l">
              <a:lnSpc>
                <a:spcPts val="2362"/>
              </a:lnSpc>
            </a:pPr>
            <a:r>
              <a:rPr sz="1350" b="0" i="0" u="none">
                <a:solidFill>
                  <a:srgbClr val="334155"/>
                </a:solidFill>
                <a:latin typeface="Plus Jakarta Sans"/>
              </a:rPr>
              <a:t>The Course Registration and Timetable Builder is an integrated software platform designed to automate and streamline the academic registration process for educational institutions. Manual course selection and scheduling often suffer from time-slot clashes, room double-bookings, and complex credit limit violations.</a:t>
            </a:r>
          </a:p>
        </p:txBody>
      </p:sp>
      <p:sp>
        <p:nvSpPr>
          <p:cNvPr id="11" name="TextBox 10"/>
          <p:cNvSpPr txBox="1"/>
          <p:nvPr/>
        </p:nvSpPr>
        <p:spPr>
          <a:xfrm>
            <a:off x="1085850" y="3995737"/>
            <a:ext cx="10163175" cy="900112"/>
          </a:xfrm>
          <a:prstGeom prst="rect">
            <a:avLst/>
          </a:prstGeom>
          <a:noFill/>
        </p:spPr>
        <p:txBody>
          <a:bodyPr wrap="square" lIns="0" tIns="0" rIns="0" bIns="0" anchor="t">
            <a:spAutoFit/>
          </a:bodyPr>
          <a:lstStyle/>
          <a:p>
            <a:pPr algn="l">
              <a:lnSpc>
                <a:spcPts val="2362"/>
              </a:lnSpc>
            </a:pPr>
            <a:r>
              <a:rPr sz="1350" b="0" i="0" u="none">
                <a:solidFill>
                  <a:srgbClr val="334155"/>
                </a:solidFill>
                <a:latin typeface="Plus Jakarta Sans"/>
              </a:rPr>
              <a:t>By leveraging Object-Oriented Programming (OOP) principles in Java, this system incorporates automated constraint verification, real-time conflict detection, and schedule generation. The platform offers students an intuitive portal to construct clash-free timetables while empowering administrators with efficient resource allocation and real-time data persistence.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01 • PROJECT OVERVIEW</a:t>
            </a:r>
          </a:p>
        </p:txBody>
      </p:sp>
      <p:sp>
        <p:nvSpPr>
          <p:cNvPr id="3" name="TextBox 2"/>
          <p:cNvSpPr txBox="1"/>
          <p:nvPr/>
        </p:nvSpPr>
        <p:spPr>
          <a:xfrm>
            <a:off x="594360" y="658368"/>
            <a:ext cx="10972800" cy="461665"/>
          </a:xfrm>
          <a:prstGeom prst="rect">
            <a:avLst/>
          </a:prstGeom>
          <a:noFill/>
        </p:spPr>
        <p:txBody>
          <a:bodyPr wrap="square" lIns="36576" tIns="27432" rIns="36576" bIns="18288">
            <a:spAutoFit/>
          </a:bodyPr>
          <a:lstStyle/>
          <a:p>
            <a:pPr>
              <a:defRPr sz="2700" b="1">
                <a:solidFill>
                  <a:srgbClr val="0E1C34"/>
                </a:solidFill>
                <a:latin typeface="Aptos"/>
              </a:defRPr>
            </a:pPr>
            <a:r>
              <a:rPr lang="en-IN" dirty="0"/>
              <a:t>Understanding Problem Statement</a:t>
            </a:r>
            <a:endParaRPr dirty="0"/>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From manual course selection to structured registration and timetable planning.</a:t>
            </a:r>
          </a:p>
        </p:txBody>
      </p:sp>
      <p:sp>
        <p:nvSpPr>
          <p:cNvPr id="25" name="TextBox 24"/>
          <p:cNvSpPr txBox="1"/>
          <p:nvPr/>
        </p:nvSpPr>
        <p:spPr>
          <a:xfrm>
            <a:off x="777240" y="5669280"/>
            <a:ext cx="10789920" cy="384048"/>
          </a:xfrm>
          <a:prstGeom prst="rect">
            <a:avLst/>
          </a:prstGeom>
          <a:noFill/>
        </p:spPr>
        <p:txBody>
          <a:bodyPr wrap="square" lIns="36576" tIns="27432" rIns="36576" bIns="18288">
            <a:spAutoFit/>
          </a:bodyPr>
          <a:lstStyle/>
          <a:p>
            <a:pPr>
              <a:defRPr sz="1500" b="1">
                <a:solidFill>
                  <a:srgbClr val="225EA8"/>
                </a:solidFill>
                <a:latin typeface="Aptos"/>
              </a:defRPr>
            </a:pPr>
            <a:r>
              <a:t>Core idea: represent academic rules clearly, then use program logic to check them consistently.</a:t>
            </a:r>
          </a:p>
        </p:txBody>
      </p:sp>
      <p:sp>
        <p:nvSpPr>
          <p:cNvPr id="26" name="TextBox 25"/>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27" name="TextBox 26"/>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02</a:t>
            </a:r>
          </a:p>
        </p:txBody>
      </p:sp>
      <p:sp>
        <p:nvSpPr>
          <p:cNvPr id="28" name="TextBox 27">
            <a:extLst>
              <a:ext uri="{FF2B5EF4-FFF2-40B4-BE49-F238E27FC236}">
                <a16:creationId xmlns:a16="http://schemas.microsoft.com/office/drawing/2014/main" id="{B7AFDDE1-64D9-5F04-9DA2-FD70C3B5664F}"/>
              </a:ext>
            </a:extLst>
          </p:cNvPr>
          <p:cNvSpPr txBox="1"/>
          <p:nvPr/>
        </p:nvSpPr>
        <p:spPr>
          <a:xfrm>
            <a:off x="512064" y="1645920"/>
            <a:ext cx="10789920" cy="2585323"/>
          </a:xfrm>
          <a:prstGeom prst="rect">
            <a:avLst/>
          </a:prstGeom>
          <a:noFill/>
        </p:spPr>
        <p:txBody>
          <a:bodyPr wrap="square" rtlCol="0">
            <a:spAutoFit/>
          </a:bodyPr>
          <a:lstStyle/>
          <a:p>
            <a:endParaRPr lang="en-IN" b="1" dirty="0"/>
          </a:p>
          <a:p>
            <a:r>
              <a:rPr lang="en-IN" dirty="0"/>
              <a:t>In educational institutions, course registration and timetable preparation are often challenging due to limited classroom availability, faculty schedules, course prerequisites, credit limits, and overlapping class timings. Manual scheduling can lead to timetable conflicts, registration errors, inefficient resource utilization, and increased workload for students and administrators.</a:t>
            </a:r>
          </a:p>
          <a:p>
            <a:r>
              <a:rPr lang="en-IN" dirty="0"/>
              <a:t>The Course Registration &amp; Timetable Builder aims to develop a Java-based system that simplifies course registration and automates timetable generation.. By organizing these processes systematically, the project aims to reduce manual effort, improve registration accuracy, utilize academic resources efficiently, and provide a smoother course selection experience for students and administrators.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03 • MODULE 1</a:t>
            </a:r>
          </a:p>
        </p:txBody>
      </p:sp>
      <p:sp>
        <p:nvSpPr>
          <p:cNvPr id="3" name="TextBox 2"/>
          <p:cNvSpPr txBox="1"/>
          <p:nvPr/>
        </p:nvSpPr>
        <p:spPr>
          <a:xfrm>
            <a:off x="594360" y="658368"/>
            <a:ext cx="10972800" cy="530352"/>
          </a:xfrm>
          <a:prstGeom prst="rect">
            <a:avLst/>
          </a:prstGeom>
          <a:noFill/>
        </p:spPr>
        <p:txBody>
          <a:bodyPr wrap="square" lIns="36576" tIns="27432" rIns="36576" bIns="18288">
            <a:spAutoFit/>
          </a:bodyPr>
          <a:lstStyle/>
          <a:p>
            <a:pPr>
              <a:defRPr sz="2700" b="1">
                <a:solidFill>
                  <a:srgbClr val="0E1C34"/>
                </a:solidFill>
                <a:latin typeface="Aptos"/>
              </a:defRPr>
            </a:pPr>
            <a:r>
              <a:t>Java foundations used to express the rules</a:t>
            </a:r>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These are the foundational concepts needed to turn the project rules into executable logic.</a:t>
            </a:r>
          </a:p>
        </p:txBody>
      </p:sp>
      <p:sp>
        <p:nvSpPr>
          <p:cNvPr id="5" name="Rounded Rectangle 4"/>
          <p:cNvSpPr/>
          <p:nvPr/>
        </p:nvSpPr>
        <p:spPr>
          <a:xfrm>
            <a:off x="731520" y="1874519"/>
            <a:ext cx="5074920" cy="1234440"/>
          </a:xfrm>
          <a:prstGeom prst="roundRect">
            <a:avLst>
              <a:gd name="adj" fmla="val 12000"/>
            </a:avLst>
          </a:prstGeom>
          <a:solidFill>
            <a:srgbClr val="E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039112"/>
            <a:ext cx="4572000" cy="292608"/>
          </a:xfrm>
          <a:prstGeom prst="rect">
            <a:avLst/>
          </a:prstGeom>
          <a:noFill/>
        </p:spPr>
        <p:txBody>
          <a:bodyPr wrap="square" lIns="36576" tIns="27432" rIns="36576" bIns="18288">
            <a:spAutoFit/>
          </a:bodyPr>
          <a:lstStyle/>
          <a:p>
            <a:pPr>
              <a:defRPr sz="1600" b="1">
                <a:solidFill>
                  <a:srgbClr val="225EA8"/>
                </a:solidFill>
                <a:latin typeface="Aptos"/>
              </a:defRPr>
            </a:pPr>
            <a:r>
              <a:t>Variables &amp; data types</a:t>
            </a:r>
          </a:p>
        </p:txBody>
      </p:sp>
      <p:sp>
        <p:nvSpPr>
          <p:cNvPr id="7" name="TextBox 6"/>
          <p:cNvSpPr txBox="1"/>
          <p:nvPr/>
        </p:nvSpPr>
        <p:spPr>
          <a:xfrm>
            <a:off x="932688" y="2404872"/>
            <a:ext cx="4572000" cy="566928"/>
          </a:xfrm>
          <a:prstGeom prst="rect">
            <a:avLst/>
          </a:prstGeom>
          <a:noFill/>
        </p:spPr>
        <p:txBody>
          <a:bodyPr wrap="square" lIns="36576" tIns="27432" rIns="36576" bIns="18288">
            <a:spAutoFit/>
          </a:bodyPr>
          <a:lstStyle/>
          <a:p>
            <a:pPr>
              <a:defRPr sz="1200" b="0">
                <a:solidFill>
                  <a:srgbClr val="202D40"/>
                </a:solidFill>
                <a:latin typeface="Aptos"/>
              </a:defRPr>
            </a:pPr>
            <a:r>
              <a:t>Store IDs, credits, room numbers, time slots and status values.</a:t>
            </a:r>
          </a:p>
        </p:txBody>
      </p:sp>
      <p:sp>
        <p:nvSpPr>
          <p:cNvPr id="8" name="Rounded Rectangle 7"/>
          <p:cNvSpPr/>
          <p:nvPr/>
        </p:nvSpPr>
        <p:spPr>
          <a:xfrm>
            <a:off x="6263640" y="1874519"/>
            <a:ext cx="5074920" cy="1234440"/>
          </a:xfrm>
          <a:prstGeom prst="roundRect">
            <a:avLst>
              <a:gd name="adj" fmla="val 12000"/>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4807" y="2039112"/>
            <a:ext cx="4572000" cy="292608"/>
          </a:xfrm>
          <a:prstGeom prst="rect">
            <a:avLst/>
          </a:prstGeom>
          <a:noFill/>
        </p:spPr>
        <p:txBody>
          <a:bodyPr wrap="square" lIns="36576" tIns="27432" rIns="36576" bIns="18288">
            <a:spAutoFit/>
          </a:bodyPr>
          <a:lstStyle/>
          <a:p>
            <a:pPr>
              <a:defRPr sz="1600" b="1">
                <a:solidFill>
                  <a:srgbClr val="225EA8"/>
                </a:solidFill>
                <a:latin typeface="Aptos"/>
              </a:defRPr>
            </a:pPr>
            <a:r>
              <a:t>Operators &amp; expressions</a:t>
            </a:r>
          </a:p>
        </p:txBody>
      </p:sp>
      <p:sp>
        <p:nvSpPr>
          <p:cNvPr id="10" name="TextBox 9"/>
          <p:cNvSpPr txBox="1"/>
          <p:nvPr/>
        </p:nvSpPr>
        <p:spPr>
          <a:xfrm>
            <a:off x="6464807" y="2404872"/>
            <a:ext cx="4572000" cy="566928"/>
          </a:xfrm>
          <a:prstGeom prst="rect">
            <a:avLst/>
          </a:prstGeom>
          <a:noFill/>
        </p:spPr>
        <p:txBody>
          <a:bodyPr wrap="square" lIns="36576" tIns="27432" rIns="36576" bIns="18288">
            <a:spAutoFit/>
          </a:bodyPr>
          <a:lstStyle/>
          <a:p>
            <a:pPr>
              <a:defRPr sz="1200" b="0">
                <a:solidFill>
                  <a:srgbClr val="202D40"/>
                </a:solidFill>
                <a:latin typeface="Aptos"/>
              </a:defRPr>
            </a:pPr>
            <a:r>
              <a:t>Compare credits with limits; combine eligibility conditions with &amp;&amp; and ||.</a:t>
            </a:r>
          </a:p>
        </p:txBody>
      </p:sp>
      <p:sp>
        <p:nvSpPr>
          <p:cNvPr id="11" name="Rounded Rectangle 10"/>
          <p:cNvSpPr/>
          <p:nvPr/>
        </p:nvSpPr>
        <p:spPr>
          <a:xfrm>
            <a:off x="731520" y="3520439"/>
            <a:ext cx="5074920" cy="1234440"/>
          </a:xfrm>
          <a:prstGeom prst="roundRect">
            <a:avLst>
              <a:gd name="adj" fmla="val 12000"/>
            </a:avLst>
          </a:prstGeom>
          <a:solidFill>
            <a:srgbClr val="E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685031"/>
            <a:ext cx="4572000" cy="292608"/>
          </a:xfrm>
          <a:prstGeom prst="rect">
            <a:avLst/>
          </a:prstGeom>
          <a:noFill/>
        </p:spPr>
        <p:txBody>
          <a:bodyPr wrap="square" lIns="36576" tIns="27432" rIns="36576" bIns="18288">
            <a:spAutoFit/>
          </a:bodyPr>
          <a:lstStyle/>
          <a:p>
            <a:pPr>
              <a:defRPr sz="1600" b="1">
                <a:solidFill>
                  <a:srgbClr val="225EA8"/>
                </a:solidFill>
                <a:latin typeface="Aptos"/>
              </a:defRPr>
            </a:pPr>
            <a:r>
              <a:t>Console I/O</a:t>
            </a:r>
          </a:p>
        </p:txBody>
      </p:sp>
      <p:sp>
        <p:nvSpPr>
          <p:cNvPr id="13" name="TextBox 12"/>
          <p:cNvSpPr txBox="1"/>
          <p:nvPr/>
        </p:nvSpPr>
        <p:spPr>
          <a:xfrm>
            <a:off x="932688" y="4050791"/>
            <a:ext cx="4572000" cy="566928"/>
          </a:xfrm>
          <a:prstGeom prst="rect">
            <a:avLst/>
          </a:prstGeom>
          <a:noFill/>
        </p:spPr>
        <p:txBody>
          <a:bodyPr wrap="square" lIns="36576" tIns="27432" rIns="36576" bIns="18288">
            <a:spAutoFit/>
          </a:bodyPr>
          <a:lstStyle/>
          <a:p>
            <a:pPr>
              <a:defRPr sz="1200" b="0">
                <a:solidFill>
                  <a:srgbClr val="202D40"/>
                </a:solidFill>
                <a:latin typeface="Aptos"/>
              </a:defRPr>
            </a:pPr>
            <a:r>
              <a:t>Read sample registration details and print a clear confirmation.</a:t>
            </a:r>
          </a:p>
        </p:txBody>
      </p:sp>
      <p:sp>
        <p:nvSpPr>
          <p:cNvPr id="14" name="Rounded Rectangle 13"/>
          <p:cNvSpPr/>
          <p:nvPr/>
        </p:nvSpPr>
        <p:spPr>
          <a:xfrm>
            <a:off x="6263640" y="3520439"/>
            <a:ext cx="5074920" cy="1234440"/>
          </a:xfrm>
          <a:prstGeom prst="roundRect">
            <a:avLst>
              <a:gd name="adj" fmla="val 12000"/>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3685031"/>
            <a:ext cx="4572000" cy="292608"/>
          </a:xfrm>
          <a:prstGeom prst="rect">
            <a:avLst/>
          </a:prstGeom>
          <a:noFill/>
        </p:spPr>
        <p:txBody>
          <a:bodyPr wrap="square" lIns="36576" tIns="27432" rIns="36576" bIns="18288">
            <a:spAutoFit/>
          </a:bodyPr>
          <a:lstStyle/>
          <a:p>
            <a:pPr>
              <a:defRPr sz="1600" b="1">
                <a:solidFill>
                  <a:srgbClr val="225EA8"/>
                </a:solidFill>
                <a:latin typeface="Aptos"/>
              </a:defRPr>
            </a:pPr>
            <a:r>
              <a:t>Algorithm &amp; flowchart</a:t>
            </a:r>
          </a:p>
        </p:txBody>
      </p:sp>
      <p:sp>
        <p:nvSpPr>
          <p:cNvPr id="16" name="TextBox 15"/>
          <p:cNvSpPr txBox="1"/>
          <p:nvPr/>
        </p:nvSpPr>
        <p:spPr>
          <a:xfrm>
            <a:off x="6464807" y="4050791"/>
            <a:ext cx="4572000" cy="566928"/>
          </a:xfrm>
          <a:prstGeom prst="rect">
            <a:avLst/>
          </a:prstGeom>
          <a:noFill/>
        </p:spPr>
        <p:txBody>
          <a:bodyPr wrap="square" lIns="36576" tIns="27432" rIns="36576" bIns="18288">
            <a:spAutoFit/>
          </a:bodyPr>
          <a:lstStyle/>
          <a:p>
            <a:pPr>
              <a:defRPr sz="1200" b="0">
                <a:solidFill>
                  <a:srgbClr val="202D40"/>
                </a:solidFill>
                <a:latin typeface="Aptos"/>
              </a:defRPr>
            </a:pPr>
            <a:r>
              <a:t>Specify the order of validation and timetable checks before coding.</a:t>
            </a:r>
          </a:p>
        </p:txBody>
      </p:sp>
      <p:sp>
        <p:nvSpPr>
          <p:cNvPr id="17" name="TextBox 16"/>
          <p:cNvSpPr txBox="1"/>
          <p:nvPr/>
        </p:nvSpPr>
        <p:spPr>
          <a:xfrm>
            <a:off x="777240" y="5486400"/>
            <a:ext cx="10515600" cy="502920"/>
          </a:xfrm>
          <a:prstGeom prst="rect">
            <a:avLst/>
          </a:prstGeom>
          <a:noFill/>
        </p:spPr>
        <p:txBody>
          <a:bodyPr wrap="square" lIns="36576" tIns="27432" rIns="36576" bIns="18288">
            <a:spAutoFit/>
          </a:bodyPr>
          <a:lstStyle/>
          <a:p>
            <a:pPr>
              <a:defRPr sz="1300" b="0">
                <a:solidFill>
                  <a:srgbClr val="5B6B80"/>
                </a:solidFill>
                <a:latin typeface="Aptos"/>
              </a:defRPr>
            </a:pPr>
            <a:r>
              <a:t>Example rule (illustrative): registration is eligible only when prerequisites are satisfied and selected credits do not exceed the allowed limit.</a:t>
            </a:r>
          </a:p>
        </p:txBody>
      </p:sp>
      <p:sp>
        <p:nvSpPr>
          <p:cNvPr id="18" name="TextBox 17"/>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19" name="TextBox 18"/>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04 • MODULE 2</a:t>
            </a:r>
          </a:p>
        </p:txBody>
      </p:sp>
      <p:sp>
        <p:nvSpPr>
          <p:cNvPr id="3" name="TextBox 2"/>
          <p:cNvSpPr txBox="1"/>
          <p:nvPr/>
        </p:nvSpPr>
        <p:spPr>
          <a:xfrm>
            <a:off x="594360" y="658368"/>
            <a:ext cx="10972800" cy="530352"/>
          </a:xfrm>
          <a:prstGeom prst="rect">
            <a:avLst/>
          </a:prstGeom>
          <a:noFill/>
        </p:spPr>
        <p:txBody>
          <a:bodyPr wrap="square" lIns="36576" tIns="27432" rIns="36576" bIns="18288">
            <a:spAutoFit/>
          </a:bodyPr>
          <a:lstStyle/>
          <a:p>
            <a:pPr>
              <a:defRPr sz="2700" b="1">
                <a:solidFill>
                  <a:srgbClr val="0E1C34"/>
                </a:solidFill>
                <a:latin typeface="Aptos"/>
              </a:defRPr>
            </a:pPr>
            <a:r>
              <a:t>Selection and iteration: validating constraints</a:t>
            </a:r>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Conditional statements make decisions; loops repeatedly inspect courses, rooms and time slots.</a:t>
            </a:r>
          </a:p>
        </p:txBody>
      </p:sp>
      <p:sp>
        <p:nvSpPr>
          <p:cNvPr id="5" name="Rounded Rectangle 4"/>
          <p:cNvSpPr/>
          <p:nvPr/>
        </p:nvSpPr>
        <p:spPr>
          <a:xfrm>
            <a:off x="685800" y="1828800"/>
            <a:ext cx="5212080" cy="3337560"/>
          </a:xfrm>
          <a:prstGeom prst="roundRect">
            <a:avLst>
              <a:gd name="adj" fmla="val 12000"/>
            </a:avLst>
          </a:prstGeom>
          <a:solidFill>
            <a:srgbClr val="F7F9FC"/>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057400"/>
            <a:ext cx="4663440" cy="320040"/>
          </a:xfrm>
          <a:prstGeom prst="rect">
            <a:avLst/>
          </a:prstGeom>
          <a:noFill/>
        </p:spPr>
        <p:txBody>
          <a:bodyPr wrap="square" lIns="36576" tIns="27432" rIns="36576" bIns="18288">
            <a:spAutoFit/>
          </a:bodyPr>
          <a:lstStyle/>
          <a:p>
            <a:pPr>
              <a:defRPr sz="1700" b="1">
                <a:solidFill>
                  <a:srgbClr val="225EA8"/>
                </a:solidFill>
                <a:latin typeface="Aptos"/>
              </a:defRPr>
            </a:pPr>
            <a:r>
              <a:t>SELECTION</a:t>
            </a:r>
          </a:p>
        </p:txBody>
      </p:sp>
      <p:sp>
        <p:nvSpPr>
          <p:cNvPr id="7" name="TextBox 6"/>
          <p:cNvSpPr txBox="1"/>
          <p:nvPr/>
        </p:nvSpPr>
        <p:spPr>
          <a:xfrm>
            <a:off x="960120" y="2560320"/>
            <a:ext cx="4572000" cy="1051560"/>
          </a:xfrm>
          <a:prstGeom prst="rect">
            <a:avLst/>
          </a:prstGeom>
          <a:noFill/>
        </p:spPr>
        <p:txBody>
          <a:bodyPr wrap="square" lIns="36576" tIns="27432" rIns="36576" bIns="18288">
            <a:spAutoFit/>
          </a:bodyPr>
          <a:lstStyle/>
          <a:p>
            <a:pPr>
              <a:defRPr sz="1500" b="0">
                <a:solidFill>
                  <a:srgbClr val="202D40"/>
                </a:solidFill>
                <a:latin typeface="Aptos"/>
              </a:defRPr>
            </a:pPr>
            <a:r>
              <a:t>if / else checks whether a student meets prerequisites, stays within the credit limit, or has a timetable clash.</a:t>
            </a:r>
          </a:p>
        </p:txBody>
      </p:sp>
      <p:sp>
        <p:nvSpPr>
          <p:cNvPr id="8" name="Rounded Rectangle 7"/>
          <p:cNvSpPr/>
          <p:nvPr/>
        </p:nvSpPr>
        <p:spPr>
          <a:xfrm>
            <a:off x="960120" y="4069080"/>
            <a:ext cx="4480560" cy="685800"/>
          </a:xfrm>
          <a:prstGeom prst="roundRect">
            <a:avLst>
              <a:gd name="adj" fmla="val 12000"/>
            </a:avLst>
          </a:prstGeom>
          <a:solidFill>
            <a:srgbClr val="E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4224528"/>
            <a:ext cx="4114800" cy="365760"/>
          </a:xfrm>
          <a:prstGeom prst="rect">
            <a:avLst/>
          </a:prstGeom>
          <a:noFill/>
        </p:spPr>
        <p:txBody>
          <a:bodyPr wrap="square" lIns="36576" tIns="27432" rIns="36576" bIns="18288">
            <a:spAutoFit/>
          </a:bodyPr>
          <a:lstStyle/>
          <a:p>
            <a:pPr>
              <a:defRPr sz="1200" b="1">
                <a:solidFill>
                  <a:srgbClr val="225EA8"/>
                </a:solidFill>
                <a:latin typeface="Aptos"/>
              </a:defRPr>
            </a:pPr>
            <a:r>
              <a:t>Condition → decision → status message</a:t>
            </a:r>
          </a:p>
        </p:txBody>
      </p:sp>
      <p:sp>
        <p:nvSpPr>
          <p:cNvPr id="10" name="Rounded Rectangle 9"/>
          <p:cNvSpPr/>
          <p:nvPr/>
        </p:nvSpPr>
        <p:spPr>
          <a:xfrm>
            <a:off x="6263640" y="1828800"/>
            <a:ext cx="5212080" cy="3337560"/>
          </a:xfrm>
          <a:prstGeom prst="roundRect">
            <a:avLst>
              <a:gd name="adj" fmla="val 12000"/>
            </a:avLst>
          </a:prstGeom>
          <a:solidFill>
            <a:srgbClr val="F7F9FC"/>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2057400"/>
            <a:ext cx="4663440" cy="320040"/>
          </a:xfrm>
          <a:prstGeom prst="rect">
            <a:avLst/>
          </a:prstGeom>
          <a:noFill/>
        </p:spPr>
        <p:txBody>
          <a:bodyPr wrap="square" lIns="36576" tIns="27432" rIns="36576" bIns="18288">
            <a:spAutoFit/>
          </a:bodyPr>
          <a:lstStyle/>
          <a:p>
            <a:pPr>
              <a:defRPr sz="1700" b="1">
                <a:solidFill>
                  <a:srgbClr val="339774"/>
                </a:solidFill>
                <a:latin typeface="Aptos"/>
              </a:defRPr>
            </a:pPr>
            <a:r>
              <a:t>ITERATION</a:t>
            </a:r>
          </a:p>
        </p:txBody>
      </p:sp>
      <p:sp>
        <p:nvSpPr>
          <p:cNvPr id="12" name="TextBox 11"/>
          <p:cNvSpPr txBox="1"/>
          <p:nvPr/>
        </p:nvSpPr>
        <p:spPr>
          <a:xfrm>
            <a:off x="6537960" y="2560320"/>
            <a:ext cx="4572000" cy="1051560"/>
          </a:xfrm>
          <a:prstGeom prst="rect">
            <a:avLst/>
          </a:prstGeom>
          <a:noFill/>
        </p:spPr>
        <p:txBody>
          <a:bodyPr wrap="square" lIns="36576" tIns="27432" rIns="36576" bIns="18288">
            <a:spAutoFit/>
          </a:bodyPr>
          <a:lstStyle/>
          <a:p>
            <a:pPr>
              <a:defRPr sz="1500" b="0">
                <a:solidFill>
                  <a:srgbClr val="202D40"/>
                </a:solidFill>
                <a:latin typeface="Aptos"/>
              </a:defRPr>
            </a:pPr>
            <a:r>
              <a:t>for / while loops can examine every selected course and compare its time slot with other courses or available rooms.</a:t>
            </a:r>
          </a:p>
        </p:txBody>
      </p:sp>
      <p:sp>
        <p:nvSpPr>
          <p:cNvPr id="13" name="Rounded Rectangle 12"/>
          <p:cNvSpPr/>
          <p:nvPr/>
        </p:nvSpPr>
        <p:spPr>
          <a:xfrm>
            <a:off x="6537960" y="4069080"/>
            <a:ext cx="4480560" cy="685800"/>
          </a:xfrm>
          <a:prstGeom prst="roundRect">
            <a:avLst>
              <a:gd name="adj" fmla="val 12000"/>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4224528"/>
            <a:ext cx="4114800" cy="365760"/>
          </a:xfrm>
          <a:prstGeom prst="rect">
            <a:avLst/>
          </a:prstGeom>
          <a:noFill/>
        </p:spPr>
        <p:txBody>
          <a:bodyPr wrap="square" lIns="36576" tIns="27432" rIns="36576" bIns="18288">
            <a:spAutoFit/>
          </a:bodyPr>
          <a:lstStyle/>
          <a:p>
            <a:pPr>
              <a:defRPr sz="1200" b="1">
                <a:solidFill>
                  <a:srgbClr val="339774"/>
                </a:solidFill>
                <a:latin typeface="Aptos"/>
              </a:defRPr>
            </a:pPr>
            <a:r>
              <a:t>Repeat checks until all records are reviewed</a:t>
            </a:r>
          </a:p>
        </p:txBody>
      </p:sp>
      <p:sp>
        <p:nvSpPr>
          <p:cNvPr id="15" name="TextBox 14"/>
          <p:cNvSpPr txBox="1"/>
          <p:nvPr/>
        </p:nvSpPr>
        <p:spPr>
          <a:xfrm>
            <a:off x="822960" y="5532120"/>
            <a:ext cx="10607040" cy="411480"/>
          </a:xfrm>
          <a:prstGeom prst="rect">
            <a:avLst/>
          </a:prstGeom>
          <a:noFill/>
        </p:spPr>
        <p:txBody>
          <a:bodyPr wrap="square" lIns="36576" tIns="27432" rIns="36576" bIns="18288">
            <a:spAutoFit/>
          </a:bodyPr>
          <a:lstStyle/>
          <a:p>
            <a:pPr>
              <a:defRPr sz="1200" b="0">
                <a:solidFill>
                  <a:srgbClr val="5B6B80"/>
                </a:solidFill>
                <a:latin typeface="Aptos"/>
              </a:defRPr>
            </a:pPr>
            <a:r>
              <a:t>Alignment note: the project deck describes validation and conflict detection; the exact Java statements are implementation choices.</a:t>
            </a:r>
          </a:p>
        </p:txBody>
      </p:sp>
      <p:sp>
        <p:nvSpPr>
          <p:cNvPr id="16" name="TextBox 15"/>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17" name="TextBox 16"/>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05 • MODULE 3</a:t>
            </a:r>
          </a:p>
        </p:txBody>
      </p:sp>
      <p:sp>
        <p:nvSpPr>
          <p:cNvPr id="3" name="TextBox 2"/>
          <p:cNvSpPr txBox="1"/>
          <p:nvPr/>
        </p:nvSpPr>
        <p:spPr>
          <a:xfrm>
            <a:off x="594360" y="658368"/>
            <a:ext cx="10972800" cy="530352"/>
          </a:xfrm>
          <a:prstGeom prst="rect">
            <a:avLst/>
          </a:prstGeom>
          <a:noFill/>
        </p:spPr>
        <p:txBody>
          <a:bodyPr wrap="square" lIns="36576" tIns="27432" rIns="36576" bIns="18288">
            <a:spAutoFit/>
          </a:bodyPr>
          <a:lstStyle/>
          <a:p>
            <a:pPr>
              <a:defRPr sz="2700" b="1">
                <a:solidFill>
                  <a:srgbClr val="0E1C34"/>
                </a:solidFill>
                <a:latin typeface="Aptos"/>
              </a:defRPr>
            </a:pPr>
            <a:r>
              <a:t>Methods, arrays and decomposition</a:t>
            </a:r>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Breaking the system into smaller operations improves clarity, testing and reuse.</a:t>
            </a:r>
          </a:p>
        </p:txBody>
      </p:sp>
      <p:sp>
        <p:nvSpPr>
          <p:cNvPr id="5" name="Rounded Rectangle 4"/>
          <p:cNvSpPr/>
          <p:nvPr/>
        </p:nvSpPr>
        <p:spPr>
          <a:xfrm>
            <a:off x="822960" y="1783080"/>
            <a:ext cx="2834640" cy="621792"/>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20240"/>
            <a:ext cx="2560320" cy="292608"/>
          </a:xfrm>
          <a:prstGeom prst="rect">
            <a:avLst/>
          </a:prstGeom>
          <a:noFill/>
        </p:spPr>
        <p:txBody>
          <a:bodyPr wrap="square" lIns="36576" tIns="27432" rIns="36576" bIns="18288">
            <a:spAutoFit/>
          </a:bodyPr>
          <a:lstStyle/>
          <a:p>
            <a:pPr algn="ctr">
              <a:defRPr sz="1400" b="1">
                <a:solidFill>
                  <a:srgbClr val="F7F9FC"/>
                </a:solidFill>
                <a:latin typeface="Aptos"/>
              </a:defRPr>
            </a:pPr>
            <a:r>
              <a:t>validateStudent()</a:t>
            </a:r>
          </a:p>
        </p:txBody>
      </p:sp>
      <p:sp>
        <p:nvSpPr>
          <p:cNvPr id="7" name="TextBox 6"/>
          <p:cNvSpPr txBox="1"/>
          <p:nvPr/>
        </p:nvSpPr>
        <p:spPr>
          <a:xfrm>
            <a:off x="3977639" y="1892807"/>
            <a:ext cx="7132320" cy="420624"/>
          </a:xfrm>
          <a:prstGeom prst="rect">
            <a:avLst/>
          </a:prstGeom>
          <a:noFill/>
        </p:spPr>
        <p:txBody>
          <a:bodyPr wrap="square" lIns="36576" tIns="27432" rIns="36576" bIns="18288">
            <a:spAutoFit/>
          </a:bodyPr>
          <a:lstStyle/>
          <a:p>
            <a:pPr>
              <a:defRPr sz="1400" b="0">
                <a:solidFill>
                  <a:srgbClr val="202D40"/>
                </a:solidFill>
                <a:latin typeface="Aptos"/>
              </a:defRPr>
            </a:pPr>
            <a:r>
              <a:t>Checks student details and registration eligibility.</a:t>
            </a:r>
          </a:p>
        </p:txBody>
      </p:sp>
      <p:sp>
        <p:nvSpPr>
          <p:cNvPr id="8" name="TextBox 7"/>
          <p:cNvSpPr txBox="1"/>
          <p:nvPr/>
        </p:nvSpPr>
        <p:spPr>
          <a:xfrm>
            <a:off x="2057400" y="2404872"/>
            <a:ext cx="274320" cy="292608"/>
          </a:xfrm>
          <a:prstGeom prst="rect">
            <a:avLst/>
          </a:prstGeom>
          <a:noFill/>
        </p:spPr>
        <p:txBody>
          <a:bodyPr wrap="square" lIns="36576" tIns="27432" rIns="36576" bIns="18288">
            <a:spAutoFit/>
          </a:bodyPr>
          <a:lstStyle/>
          <a:p>
            <a:pPr algn="ctr">
              <a:defRPr sz="1300" b="1">
                <a:solidFill>
                  <a:srgbClr val="38BDD2"/>
                </a:solidFill>
                <a:latin typeface="Aptos"/>
              </a:defRPr>
            </a:pPr>
            <a:r>
              <a:t>↓</a:t>
            </a:r>
          </a:p>
        </p:txBody>
      </p:sp>
      <p:sp>
        <p:nvSpPr>
          <p:cNvPr id="9" name="Rounded Rectangle 8"/>
          <p:cNvSpPr/>
          <p:nvPr/>
        </p:nvSpPr>
        <p:spPr>
          <a:xfrm>
            <a:off x="822960" y="2770632"/>
            <a:ext cx="2834640" cy="621792"/>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907792"/>
            <a:ext cx="2560320" cy="292608"/>
          </a:xfrm>
          <a:prstGeom prst="rect">
            <a:avLst/>
          </a:prstGeom>
          <a:noFill/>
        </p:spPr>
        <p:txBody>
          <a:bodyPr wrap="square" lIns="36576" tIns="27432" rIns="36576" bIns="18288">
            <a:spAutoFit/>
          </a:bodyPr>
          <a:lstStyle/>
          <a:p>
            <a:pPr algn="ctr">
              <a:defRPr sz="1400" b="1">
                <a:solidFill>
                  <a:srgbClr val="F7F9FC"/>
                </a:solidFill>
                <a:latin typeface="Aptos"/>
              </a:defRPr>
            </a:pPr>
            <a:r>
              <a:t>checkPrerequisites()</a:t>
            </a:r>
          </a:p>
        </p:txBody>
      </p:sp>
      <p:sp>
        <p:nvSpPr>
          <p:cNvPr id="11" name="TextBox 10"/>
          <p:cNvSpPr txBox="1"/>
          <p:nvPr/>
        </p:nvSpPr>
        <p:spPr>
          <a:xfrm>
            <a:off x="3977639" y="2880360"/>
            <a:ext cx="7132320" cy="420624"/>
          </a:xfrm>
          <a:prstGeom prst="rect">
            <a:avLst/>
          </a:prstGeom>
          <a:noFill/>
        </p:spPr>
        <p:txBody>
          <a:bodyPr wrap="square" lIns="36576" tIns="27432" rIns="36576" bIns="18288">
            <a:spAutoFit/>
          </a:bodyPr>
          <a:lstStyle/>
          <a:p>
            <a:pPr>
              <a:defRPr sz="1400" b="0">
                <a:solidFill>
                  <a:srgbClr val="202D40"/>
                </a:solidFill>
                <a:latin typeface="Aptos"/>
              </a:defRPr>
            </a:pPr>
            <a:r>
              <a:t>Verifies that required earlier courses are completed.</a:t>
            </a:r>
          </a:p>
        </p:txBody>
      </p:sp>
      <p:sp>
        <p:nvSpPr>
          <p:cNvPr id="12" name="TextBox 11"/>
          <p:cNvSpPr txBox="1"/>
          <p:nvPr/>
        </p:nvSpPr>
        <p:spPr>
          <a:xfrm>
            <a:off x="2057400" y="3392424"/>
            <a:ext cx="274320" cy="292608"/>
          </a:xfrm>
          <a:prstGeom prst="rect">
            <a:avLst/>
          </a:prstGeom>
          <a:noFill/>
        </p:spPr>
        <p:txBody>
          <a:bodyPr wrap="square" lIns="36576" tIns="27432" rIns="36576" bIns="18288">
            <a:spAutoFit/>
          </a:bodyPr>
          <a:lstStyle/>
          <a:p>
            <a:pPr algn="ctr">
              <a:defRPr sz="1300" b="1">
                <a:solidFill>
                  <a:srgbClr val="38BDD2"/>
                </a:solidFill>
                <a:latin typeface="Aptos"/>
              </a:defRPr>
            </a:pPr>
            <a:r>
              <a:t>↓</a:t>
            </a:r>
          </a:p>
        </p:txBody>
      </p:sp>
      <p:sp>
        <p:nvSpPr>
          <p:cNvPr id="13" name="Rounded Rectangle 12"/>
          <p:cNvSpPr/>
          <p:nvPr/>
        </p:nvSpPr>
        <p:spPr>
          <a:xfrm>
            <a:off x="822960" y="3758184"/>
            <a:ext cx="2834640" cy="621792"/>
          </a:xfrm>
          <a:prstGeom prst="roundRect">
            <a:avLst>
              <a:gd name="adj" fmla="val 12000"/>
            </a:avLst>
          </a:prstGeom>
          <a:solidFill>
            <a:srgbClr val="339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3895344"/>
            <a:ext cx="2560320" cy="292608"/>
          </a:xfrm>
          <a:prstGeom prst="rect">
            <a:avLst/>
          </a:prstGeom>
          <a:noFill/>
        </p:spPr>
        <p:txBody>
          <a:bodyPr wrap="square" lIns="36576" tIns="27432" rIns="36576" bIns="18288">
            <a:spAutoFit/>
          </a:bodyPr>
          <a:lstStyle/>
          <a:p>
            <a:pPr algn="ctr">
              <a:defRPr sz="1400" b="1">
                <a:solidFill>
                  <a:srgbClr val="F7F9FC"/>
                </a:solidFill>
                <a:latin typeface="Aptos"/>
              </a:defRPr>
            </a:pPr>
            <a:r>
              <a:t>detectConflict()</a:t>
            </a:r>
          </a:p>
        </p:txBody>
      </p:sp>
      <p:sp>
        <p:nvSpPr>
          <p:cNvPr id="15" name="TextBox 14"/>
          <p:cNvSpPr txBox="1"/>
          <p:nvPr/>
        </p:nvSpPr>
        <p:spPr>
          <a:xfrm>
            <a:off x="3977639" y="3867912"/>
            <a:ext cx="7132320" cy="420624"/>
          </a:xfrm>
          <a:prstGeom prst="rect">
            <a:avLst/>
          </a:prstGeom>
          <a:noFill/>
        </p:spPr>
        <p:txBody>
          <a:bodyPr wrap="square" lIns="36576" tIns="27432" rIns="36576" bIns="18288">
            <a:spAutoFit/>
          </a:bodyPr>
          <a:lstStyle/>
          <a:p>
            <a:pPr>
              <a:defRPr sz="1400" b="0">
                <a:solidFill>
                  <a:srgbClr val="202D40"/>
                </a:solidFill>
                <a:latin typeface="Aptos"/>
              </a:defRPr>
            </a:pPr>
            <a:r>
              <a:t>Compares a course time slot against an existing schedule.</a:t>
            </a:r>
          </a:p>
        </p:txBody>
      </p:sp>
      <p:sp>
        <p:nvSpPr>
          <p:cNvPr id="16" name="TextBox 15"/>
          <p:cNvSpPr txBox="1"/>
          <p:nvPr/>
        </p:nvSpPr>
        <p:spPr>
          <a:xfrm>
            <a:off x="2057400" y="4379976"/>
            <a:ext cx="274320" cy="292608"/>
          </a:xfrm>
          <a:prstGeom prst="rect">
            <a:avLst/>
          </a:prstGeom>
          <a:noFill/>
        </p:spPr>
        <p:txBody>
          <a:bodyPr wrap="square" lIns="36576" tIns="27432" rIns="36576" bIns="18288">
            <a:spAutoFit/>
          </a:bodyPr>
          <a:lstStyle/>
          <a:p>
            <a:pPr algn="ctr">
              <a:defRPr sz="1300" b="1">
                <a:solidFill>
                  <a:srgbClr val="38BDD2"/>
                </a:solidFill>
                <a:latin typeface="Aptos"/>
              </a:defRPr>
            </a:pPr>
            <a:r>
              <a:t>↓</a:t>
            </a:r>
          </a:p>
        </p:txBody>
      </p:sp>
      <p:sp>
        <p:nvSpPr>
          <p:cNvPr id="17" name="Rounded Rectangle 16"/>
          <p:cNvSpPr/>
          <p:nvPr/>
        </p:nvSpPr>
        <p:spPr>
          <a:xfrm>
            <a:off x="822960" y="4745736"/>
            <a:ext cx="2834640" cy="621792"/>
          </a:xfrm>
          <a:prstGeom prst="roundRect">
            <a:avLst>
              <a:gd name="adj" fmla="val 12000"/>
            </a:avLst>
          </a:prstGeom>
          <a:solidFill>
            <a:srgbClr val="339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882896"/>
            <a:ext cx="2560320" cy="292608"/>
          </a:xfrm>
          <a:prstGeom prst="rect">
            <a:avLst/>
          </a:prstGeom>
          <a:noFill/>
        </p:spPr>
        <p:txBody>
          <a:bodyPr wrap="square" lIns="36576" tIns="27432" rIns="36576" bIns="18288">
            <a:spAutoFit/>
          </a:bodyPr>
          <a:lstStyle/>
          <a:p>
            <a:pPr algn="ctr">
              <a:defRPr sz="1400" b="1">
                <a:solidFill>
                  <a:srgbClr val="F7F9FC"/>
                </a:solidFill>
                <a:latin typeface="Aptos"/>
              </a:defRPr>
            </a:pPr>
            <a:r>
              <a:t>generateTimetable()</a:t>
            </a:r>
          </a:p>
        </p:txBody>
      </p:sp>
      <p:sp>
        <p:nvSpPr>
          <p:cNvPr id="19" name="TextBox 18"/>
          <p:cNvSpPr txBox="1"/>
          <p:nvPr/>
        </p:nvSpPr>
        <p:spPr>
          <a:xfrm>
            <a:off x="3977639" y="4855464"/>
            <a:ext cx="7132320" cy="420624"/>
          </a:xfrm>
          <a:prstGeom prst="rect">
            <a:avLst/>
          </a:prstGeom>
          <a:noFill/>
        </p:spPr>
        <p:txBody>
          <a:bodyPr wrap="square" lIns="36576" tIns="27432" rIns="36576" bIns="18288">
            <a:spAutoFit/>
          </a:bodyPr>
          <a:lstStyle/>
          <a:p>
            <a:pPr>
              <a:defRPr sz="1400" b="0">
                <a:solidFill>
                  <a:srgbClr val="202D40"/>
                </a:solidFill>
                <a:latin typeface="Aptos"/>
              </a:defRPr>
            </a:pPr>
            <a:r>
              <a:t>Combines valid course, faculty, room and period assignments.</a:t>
            </a:r>
          </a:p>
        </p:txBody>
      </p:sp>
      <p:sp>
        <p:nvSpPr>
          <p:cNvPr id="20" name="Rounded Rectangle 19"/>
          <p:cNvSpPr/>
          <p:nvPr/>
        </p:nvSpPr>
        <p:spPr>
          <a:xfrm>
            <a:off x="822960" y="5897880"/>
            <a:ext cx="10332720" cy="329184"/>
          </a:xfrm>
          <a:prstGeom prst="roundRect">
            <a:avLst>
              <a:gd name="adj" fmla="val 12000"/>
            </a:avLst>
          </a:prstGeom>
          <a:solidFill>
            <a:srgbClr val="E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5934456"/>
            <a:ext cx="10058400" cy="201168"/>
          </a:xfrm>
          <a:prstGeom prst="rect">
            <a:avLst/>
          </a:prstGeom>
          <a:noFill/>
        </p:spPr>
        <p:txBody>
          <a:bodyPr wrap="square" lIns="36576" tIns="27432" rIns="36576" bIns="18288">
            <a:spAutoFit/>
          </a:bodyPr>
          <a:lstStyle/>
          <a:p>
            <a:pPr>
              <a:defRPr sz="1000" b="0">
                <a:solidFill>
                  <a:srgbClr val="225EA8"/>
                </a:solidFill>
                <a:latin typeface="Aptos"/>
              </a:defRPr>
            </a:pPr>
            <a:r>
              <a:t>Arrays or lists can represent selected courses and available time slots; this is a suggested design mapping.</a:t>
            </a:r>
          </a:p>
        </p:txBody>
      </p:sp>
      <p:sp>
        <p:nvSpPr>
          <p:cNvPr id="22" name="TextBox 21"/>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23" name="TextBox 22"/>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06 • MODULE 4</a:t>
            </a:r>
          </a:p>
        </p:txBody>
      </p:sp>
      <p:sp>
        <p:nvSpPr>
          <p:cNvPr id="3" name="TextBox 2"/>
          <p:cNvSpPr txBox="1"/>
          <p:nvPr/>
        </p:nvSpPr>
        <p:spPr>
          <a:xfrm>
            <a:off x="594360" y="658368"/>
            <a:ext cx="10972800" cy="530352"/>
          </a:xfrm>
          <a:prstGeom prst="rect">
            <a:avLst/>
          </a:prstGeom>
          <a:noFill/>
        </p:spPr>
        <p:txBody>
          <a:bodyPr wrap="square" lIns="36576" tIns="27432" rIns="36576" bIns="18288">
            <a:spAutoFit/>
          </a:bodyPr>
          <a:lstStyle/>
          <a:p>
            <a:pPr>
              <a:defRPr sz="2700" b="1">
                <a:solidFill>
                  <a:srgbClr val="0E1C34"/>
                </a:solidFill>
                <a:latin typeface="Aptos"/>
              </a:defRPr>
            </a:pPr>
            <a:r>
              <a:t>Object-oriented modelling is the clearest match</a:t>
            </a:r>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The uploaded project explicitly describes Java OOP architecture and academic entities.</a:t>
            </a:r>
          </a:p>
        </p:txBody>
      </p:sp>
      <p:sp>
        <p:nvSpPr>
          <p:cNvPr id="5" name="Rounded Rectangle 4"/>
          <p:cNvSpPr/>
          <p:nvPr/>
        </p:nvSpPr>
        <p:spPr>
          <a:xfrm>
            <a:off x="658368" y="1920240"/>
            <a:ext cx="2514600" cy="2148840"/>
          </a:xfrm>
          <a:prstGeom prst="roundRect">
            <a:avLst>
              <a:gd name="adj" fmla="val 12000"/>
            </a:avLst>
          </a:prstGeom>
          <a:solidFill>
            <a:srgbClr val="F7F9FC"/>
          </a:solidFill>
          <a:ln>
            <a:solidFill>
              <a:srgbClr val="225E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920240"/>
            <a:ext cx="2514600" cy="475488"/>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29968"/>
            <a:ext cx="2286000" cy="228600"/>
          </a:xfrm>
          <a:prstGeom prst="rect">
            <a:avLst/>
          </a:prstGeom>
          <a:noFill/>
        </p:spPr>
        <p:txBody>
          <a:bodyPr wrap="square" lIns="36576" tIns="27432" rIns="36576" bIns="18288">
            <a:spAutoFit/>
          </a:bodyPr>
          <a:lstStyle/>
          <a:p>
            <a:pPr algn="ctr">
              <a:defRPr sz="1500" b="1">
                <a:solidFill>
                  <a:srgbClr val="F7F9FC"/>
                </a:solidFill>
                <a:latin typeface="Aptos"/>
              </a:defRPr>
            </a:pPr>
            <a:r>
              <a:t>Student</a:t>
            </a:r>
          </a:p>
        </p:txBody>
      </p:sp>
      <p:sp>
        <p:nvSpPr>
          <p:cNvPr id="8" name="TextBox 7"/>
          <p:cNvSpPr txBox="1"/>
          <p:nvPr/>
        </p:nvSpPr>
        <p:spPr>
          <a:xfrm>
            <a:off x="914400" y="2651760"/>
            <a:ext cx="2011680" cy="1097280"/>
          </a:xfrm>
          <a:prstGeom prst="rect">
            <a:avLst/>
          </a:prstGeom>
          <a:noFill/>
        </p:spPr>
        <p:txBody>
          <a:bodyPr wrap="square" lIns="36576" tIns="27432" rIns="36576" bIns="18288">
            <a:spAutoFit/>
          </a:bodyPr>
          <a:lstStyle/>
          <a:p>
            <a:pPr algn="ctr">
              <a:defRPr sz="1300" b="0">
                <a:solidFill>
                  <a:srgbClr val="202D40"/>
                </a:solidFill>
                <a:latin typeface="Aptos"/>
              </a:defRPr>
            </a:pPr>
            <a:r>
              <a:t>studentId</a:t>
            </a:r>
            <a:br/>
            <a:r>
              <a:t>name</a:t>
            </a:r>
            <a:br/>
            <a:r>
              <a:t>selectedCourses</a:t>
            </a:r>
          </a:p>
        </p:txBody>
      </p:sp>
      <p:sp>
        <p:nvSpPr>
          <p:cNvPr id="9" name="Rounded Rectangle 8"/>
          <p:cNvSpPr/>
          <p:nvPr/>
        </p:nvSpPr>
        <p:spPr>
          <a:xfrm>
            <a:off x="3538728" y="1920240"/>
            <a:ext cx="2514600" cy="2148840"/>
          </a:xfrm>
          <a:prstGeom prst="roundRect">
            <a:avLst>
              <a:gd name="adj" fmla="val 12000"/>
            </a:avLst>
          </a:prstGeom>
          <a:solidFill>
            <a:srgbClr val="F7F9FC"/>
          </a:solidFill>
          <a:ln>
            <a:solidFill>
              <a:srgbClr val="225E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538728" y="1920240"/>
            <a:ext cx="2514600" cy="475488"/>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48456" y="2029968"/>
            <a:ext cx="2286000" cy="228600"/>
          </a:xfrm>
          <a:prstGeom prst="rect">
            <a:avLst/>
          </a:prstGeom>
          <a:noFill/>
        </p:spPr>
        <p:txBody>
          <a:bodyPr wrap="square" lIns="36576" tIns="27432" rIns="36576" bIns="18288">
            <a:spAutoFit/>
          </a:bodyPr>
          <a:lstStyle/>
          <a:p>
            <a:pPr algn="ctr">
              <a:defRPr sz="1500" b="1">
                <a:solidFill>
                  <a:srgbClr val="F7F9FC"/>
                </a:solidFill>
                <a:latin typeface="Aptos"/>
              </a:defRPr>
            </a:pPr>
            <a:r>
              <a:t>Course</a:t>
            </a:r>
          </a:p>
        </p:txBody>
      </p:sp>
      <p:sp>
        <p:nvSpPr>
          <p:cNvPr id="12" name="TextBox 11"/>
          <p:cNvSpPr txBox="1"/>
          <p:nvPr/>
        </p:nvSpPr>
        <p:spPr>
          <a:xfrm>
            <a:off x="3794760" y="2651760"/>
            <a:ext cx="2011680" cy="1097280"/>
          </a:xfrm>
          <a:prstGeom prst="rect">
            <a:avLst/>
          </a:prstGeom>
          <a:noFill/>
        </p:spPr>
        <p:txBody>
          <a:bodyPr wrap="square" lIns="36576" tIns="27432" rIns="36576" bIns="18288">
            <a:spAutoFit/>
          </a:bodyPr>
          <a:lstStyle/>
          <a:p>
            <a:pPr algn="ctr">
              <a:defRPr sz="1300" b="0">
                <a:solidFill>
                  <a:srgbClr val="202D40"/>
                </a:solidFill>
                <a:latin typeface="Aptos"/>
              </a:defRPr>
            </a:pPr>
            <a:r>
              <a:t>courseCode</a:t>
            </a:r>
            <a:br/>
            <a:r>
              <a:t>credits</a:t>
            </a:r>
            <a:br/>
            <a:r>
              <a:t>prerequisites</a:t>
            </a:r>
          </a:p>
        </p:txBody>
      </p:sp>
      <p:sp>
        <p:nvSpPr>
          <p:cNvPr id="13" name="Rounded Rectangle 12"/>
          <p:cNvSpPr/>
          <p:nvPr/>
        </p:nvSpPr>
        <p:spPr>
          <a:xfrm>
            <a:off x="6419088" y="1920240"/>
            <a:ext cx="2514600" cy="2148840"/>
          </a:xfrm>
          <a:prstGeom prst="roundRect">
            <a:avLst>
              <a:gd name="adj" fmla="val 12000"/>
            </a:avLst>
          </a:prstGeom>
          <a:solidFill>
            <a:srgbClr val="F7F9FC"/>
          </a:solidFill>
          <a:ln>
            <a:solidFill>
              <a:srgbClr val="225E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19088" y="1920240"/>
            <a:ext cx="2514600" cy="475488"/>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2029968"/>
            <a:ext cx="2286000" cy="228600"/>
          </a:xfrm>
          <a:prstGeom prst="rect">
            <a:avLst/>
          </a:prstGeom>
          <a:noFill/>
        </p:spPr>
        <p:txBody>
          <a:bodyPr wrap="square" lIns="36576" tIns="27432" rIns="36576" bIns="18288">
            <a:spAutoFit/>
          </a:bodyPr>
          <a:lstStyle/>
          <a:p>
            <a:pPr algn="ctr">
              <a:defRPr sz="1500" b="1">
                <a:solidFill>
                  <a:srgbClr val="F7F9FC"/>
                </a:solidFill>
                <a:latin typeface="Aptos"/>
              </a:defRPr>
            </a:pPr>
            <a:r>
              <a:t>Faculty</a:t>
            </a:r>
          </a:p>
        </p:txBody>
      </p:sp>
      <p:sp>
        <p:nvSpPr>
          <p:cNvPr id="16" name="TextBox 15"/>
          <p:cNvSpPr txBox="1"/>
          <p:nvPr/>
        </p:nvSpPr>
        <p:spPr>
          <a:xfrm>
            <a:off x="6675120" y="2651760"/>
            <a:ext cx="2011680" cy="1097280"/>
          </a:xfrm>
          <a:prstGeom prst="rect">
            <a:avLst/>
          </a:prstGeom>
          <a:noFill/>
        </p:spPr>
        <p:txBody>
          <a:bodyPr wrap="square" lIns="36576" tIns="27432" rIns="36576" bIns="18288">
            <a:spAutoFit/>
          </a:bodyPr>
          <a:lstStyle/>
          <a:p>
            <a:pPr algn="ctr">
              <a:defRPr sz="1300" b="0">
                <a:solidFill>
                  <a:srgbClr val="202D40"/>
                </a:solidFill>
                <a:latin typeface="Aptos"/>
              </a:defRPr>
            </a:pPr>
            <a:r>
              <a:t>facultyId</a:t>
            </a:r>
            <a:br/>
            <a:r>
              <a:t>availability</a:t>
            </a:r>
          </a:p>
        </p:txBody>
      </p:sp>
      <p:sp>
        <p:nvSpPr>
          <p:cNvPr id="17" name="Rounded Rectangle 16"/>
          <p:cNvSpPr/>
          <p:nvPr/>
        </p:nvSpPr>
        <p:spPr>
          <a:xfrm>
            <a:off x="9299448" y="1920240"/>
            <a:ext cx="2514600" cy="2148840"/>
          </a:xfrm>
          <a:prstGeom prst="roundRect">
            <a:avLst>
              <a:gd name="adj" fmla="val 12000"/>
            </a:avLst>
          </a:prstGeom>
          <a:solidFill>
            <a:srgbClr val="F7F9FC"/>
          </a:solidFill>
          <a:ln>
            <a:solidFill>
              <a:srgbClr val="225E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299448" y="1920240"/>
            <a:ext cx="2514600" cy="475488"/>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09176" y="2029968"/>
            <a:ext cx="2286000" cy="228600"/>
          </a:xfrm>
          <a:prstGeom prst="rect">
            <a:avLst/>
          </a:prstGeom>
          <a:noFill/>
        </p:spPr>
        <p:txBody>
          <a:bodyPr wrap="square" lIns="36576" tIns="27432" rIns="36576" bIns="18288">
            <a:spAutoFit/>
          </a:bodyPr>
          <a:lstStyle/>
          <a:p>
            <a:pPr algn="ctr">
              <a:defRPr sz="1500" b="1">
                <a:solidFill>
                  <a:srgbClr val="F7F9FC"/>
                </a:solidFill>
                <a:latin typeface="Aptos"/>
              </a:defRPr>
            </a:pPr>
            <a:r>
              <a:t>Room</a:t>
            </a:r>
          </a:p>
        </p:txBody>
      </p:sp>
      <p:sp>
        <p:nvSpPr>
          <p:cNvPr id="20" name="TextBox 19"/>
          <p:cNvSpPr txBox="1"/>
          <p:nvPr/>
        </p:nvSpPr>
        <p:spPr>
          <a:xfrm>
            <a:off x="9555480" y="2651760"/>
            <a:ext cx="2011680" cy="1097280"/>
          </a:xfrm>
          <a:prstGeom prst="rect">
            <a:avLst/>
          </a:prstGeom>
          <a:noFill/>
        </p:spPr>
        <p:txBody>
          <a:bodyPr wrap="square" lIns="36576" tIns="27432" rIns="36576" bIns="18288">
            <a:spAutoFit/>
          </a:bodyPr>
          <a:lstStyle/>
          <a:p>
            <a:pPr algn="ctr">
              <a:defRPr sz="1300" b="0">
                <a:solidFill>
                  <a:srgbClr val="202D40"/>
                </a:solidFill>
                <a:latin typeface="Aptos"/>
              </a:defRPr>
            </a:pPr>
            <a:r>
              <a:t>roomId</a:t>
            </a:r>
            <a:br/>
            <a:r>
              <a:t>capacity</a:t>
            </a:r>
          </a:p>
        </p:txBody>
      </p:sp>
      <p:sp>
        <p:nvSpPr>
          <p:cNvPr id="21" name="TextBox 20"/>
          <p:cNvSpPr txBox="1"/>
          <p:nvPr/>
        </p:nvSpPr>
        <p:spPr>
          <a:xfrm>
            <a:off x="822960" y="4526280"/>
            <a:ext cx="10515600" cy="320040"/>
          </a:xfrm>
          <a:prstGeom prst="rect">
            <a:avLst/>
          </a:prstGeom>
          <a:noFill/>
        </p:spPr>
        <p:txBody>
          <a:bodyPr wrap="square" lIns="36576" tIns="27432" rIns="36576" bIns="18288">
            <a:spAutoFit/>
          </a:bodyPr>
          <a:lstStyle/>
          <a:p>
            <a:pPr>
              <a:defRPr sz="1600" b="1">
                <a:solidFill>
                  <a:srgbClr val="225EA8"/>
                </a:solidFill>
                <a:latin typeface="Aptos"/>
              </a:defRPr>
            </a:pPr>
            <a:r>
              <a:t>OOP concepts from the handout</a:t>
            </a:r>
          </a:p>
        </p:txBody>
      </p:sp>
      <p:sp>
        <p:nvSpPr>
          <p:cNvPr id="22" name="Rounded Rectangle 21"/>
          <p:cNvSpPr/>
          <p:nvPr/>
        </p:nvSpPr>
        <p:spPr>
          <a:xfrm>
            <a:off x="914400" y="506577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5568" y="4983480"/>
            <a:ext cx="9857232" cy="310896"/>
          </a:xfrm>
          <a:prstGeom prst="rect">
            <a:avLst/>
          </a:prstGeom>
          <a:noFill/>
        </p:spPr>
        <p:txBody>
          <a:bodyPr wrap="square" lIns="36576" tIns="27432" rIns="36576" bIns="18288">
            <a:spAutoFit/>
          </a:bodyPr>
          <a:lstStyle/>
          <a:p>
            <a:pPr>
              <a:defRPr sz="1200" b="0">
                <a:solidFill>
                  <a:srgbClr val="202D40"/>
                </a:solidFill>
                <a:latin typeface="Aptos"/>
              </a:defRPr>
            </a:pPr>
            <a:r>
              <a:t>Classes and objects model real academic entities.</a:t>
            </a:r>
          </a:p>
        </p:txBody>
      </p:sp>
      <p:sp>
        <p:nvSpPr>
          <p:cNvPr id="24" name="Rounded Rectangle 23"/>
          <p:cNvSpPr/>
          <p:nvPr/>
        </p:nvSpPr>
        <p:spPr>
          <a:xfrm>
            <a:off x="914400" y="5394960"/>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5568" y="5312664"/>
            <a:ext cx="9857232" cy="310896"/>
          </a:xfrm>
          <a:prstGeom prst="rect">
            <a:avLst/>
          </a:prstGeom>
          <a:noFill/>
        </p:spPr>
        <p:txBody>
          <a:bodyPr wrap="square" lIns="36576" tIns="27432" rIns="36576" bIns="18288">
            <a:spAutoFit/>
          </a:bodyPr>
          <a:lstStyle/>
          <a:p>
            <a:pPr>
              <a:defRPr sz="1200" b="0">
                <a:solidFill>
                  <a:srgbClr val="202D40"/>
                </a:solidFill>
                <a:latin typeface="Aptos"/>
              </a:defRPr>
            </a:pPr>
            <a:r>
              <a:t>Encapsulation protects fields and exposes controlled methods.</a:t>
            </a:r>
          </a:p>
        </p:txBody>
      </p:sp>
      <p:sp>
        <p:nvSpPr>
          <p:cNvPr id="26" name="Rounded Rectangle 25"/>
          <p:cNvSpPr/>
          <p:nvPr/>
        </p:nvSpPr>
        <p:spPr>
          <a:xfrm>
            <a:off x="914400" y="5724144"/>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15568" y="5641848"/>
            <a:ext cx="9857232" cy="310896"/>
          </a:xfrm>
          <a:prstGeom prst="rect">
            <a:avLst/>
          </a:prstGeom>
          <a:noFill/>
        </p:spPr>
        <p:txBody>
          <a:bodyPr wrap="square" lIns="36576" tIns="27432" rIns="36576" bIns="18288">
            <a:spAutoFit/>
          </a:bodyPr>
          <a:lstStyle/>
          <a:p>
            <a:pPr>
              <a:defRPr sz="1200" b="0">
                <a:solidFill>
                  <a:srgbClr val="202D40"/>
                </a:solidFill>
                <a:latin typeface="Aptos"/>
              </a:defRPr>
            </a:pPr>
            <a:r>
              <a:t>Constructors initialize objects; methods perform validation and scheduling tasks.</a:t>
            </a:r>
          </a:p>
        </p:txBody>
      </p:sp>
      <p:sp>
        <p:nvSpPr>
          <p:cNvPr id="28" name="Rounded Rectangle 27"/>
          <p:cNvSpPr/>
          <p:nvPr/>
        </p:nvSpPr>
        <p:spPr>
          <a:xfrm>
            <a:off x="914400" y="6053328"/>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5568" y="5971032"/>
            <a:ext cx="9857232" cy="310896"/>
          </a:xfrm>
          <a:prstGeom prst="rect">
            <a:avLst/>
          </a:prstGeom>
          <a:noFill/>
        </p:spPr>
        <p:txBody>
          <a:bodyPr wrap="square" lIns="36576" tIns="27432" rIns="36576" bIns="18288">
            <a:spAutoFit/>
          </a:bodyPr>
          <a:lstStyle/>
          <a:p>
            <a:pPr>
              <a:defRPr sz="1200" b="0">
                <a:solidFill>
                  <a:srgbClr val="202D40"/>
                </a:solidFill>
                <a:latin typeface="Aptos"/>
              </a:defRPr>
            </a:pPr>
            <a:r>
              <a:t>Relationships connect students, courses, faculty and rooms.</a:t>
            </a:r>
          </a:p>
        </p:txBody>
      </p:sp>
      <p:sp>
        <p:nvSpPr>
          <p:cNvPr id="30" name="TextBox 29"/>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31" name="TextBox 30"/>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07 • MODULES 5 AND 6</a:t>
            </a:r>
          </a:p>
        </p:txBody>
      </p:sp>
      <p:sp>
        <p:nvSpPr>
          <p:cNvPr id="3" name="TextBox 2"/>
          <p:cNvSpPr txBox="1"/>
          <p:nvPr/>
        </p:nvSpPr>
        <p:spPr>
          <a:xfrm>
            <a:off x="594360" y="658368"/>
            <a:ext cx="10972800" cy="530352"/>
          </a:xfrm>
          <a:prstGeom prst="rect">
            <a:avLst/>
          </a:prstGeom>
          <a:noFill/>
        </p:spPr>
        <p:txBody>
          <a:bodyPr wrap="square" lIns="36576" tIns="27432" rIns="36576" bIns="18288">
            <a:spAutoFit/>
          </a:bodyPr>
          <a:lstStyle/>
          <a:p>
            <a:pPr>
              <a:defRPr sz="2700" b="1">
                <a:solidFill>
                  <a:srgbClr val="0E1C34"/>
                </a:solidFill>
                <a:latin typeface="Aptos"/>
              </a:defRPr>
            </a:pPr>
            <a:r>
              <a:t>Strings, persistence, collections and reports</a:t>
            </a:r>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These handout topics are useful extensions; the current project slides mention MySQL persistence but do not show their Java implementation.</a:t>
            </a:r>
          </a:p>
        </p:txBody>
      </p:sp>
      <p:sp>
        <p:nvSpPr>
          <p:cNvPr id="5" name="Rounded Rectangle 4"/>
          <p:cNvSpPr/>
          <p:nvPr/>
        </p:nvSpPr>
        <p:spPr>
          <a:xfrm>
            <a:off x="685800" y="1874519"/>
            <a:ext cx="5257800" cy="3429000"/>
          </a:xfrm>
          <a:prstGeom prst="roundRect">
            <a:avLst>
              <a:gd name="adj" fmla="val 12000"/>
            </a:avLst>
          </a:prstGeom>
          <a:solidFill>
            <a:srgbClr val="E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121408"/>
            <a:ext cx="4572000" cy="365760"/>
          </a:xfrm>
          <a:prstGeom prst="rect">
            <a:avLst/>
          </a:prstGeom>
          <a:noFill/>
        </p:spPr>
        <p:txBody>
          <a:bodyPr wrap="square" lIns="36576" tIns="27432" rIns="36576" bIns="18288">
            <a:spAutoFit/>
          </a:bodyPr>
          <a:lstStyle/>
          <a:p>
            <a:pPr>
              <a:defRPr sz="1500" b="1">
                <a:solidFill>
                  <a:srgbClr val="225EA8"/>
                </a:solidFill>
                <a:latin typeface="Aptos"/>
              </a:defRPr>
            </a:pPr>
            <a:r>
              <a:t>MODULE 5 • STRINGS &amp; FILE I/O</a:t>
            </a:r>
          </a:p>
        </p:txBody>
      </p:sp>
      <p:sp>
        <p:nvSpPr>
          <p:cNvPr id="7" name="Rounded Rectangle 6"/>
          <p:cNvSpPr/>
          <p:nvPr/>
        </p:nvSpPr>
        <p:spPr>
          <a:xfrm>
            <a:off x="960120" y="277977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1288" y="269748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Parse course codes and registration records</a:t>
            </a:r>
          </a:p>
        </p:txBody>
      </p:sp>
      <p:sp>
        <p:nvSpPr>
          <p:cNvPr id="9" name="Rounded Rectangle 8"/>
          <p:cNvSpPr/>
          <p:nvPr/>
        </p:nvSpPr>
        <p:spPr>
          <a:xfrm>
            <a:off x="960120" y="328269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1288" y="320040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Validate text fields and compare identifiers</a:t>
            </a:r>
          </a:p>
        </p:txBody>
      </p:sp>
      <p:sp>
        <p:nvSpPr>
          <p:cNvPr id="11" name="Rounded Rectangle 10"/>
          <p:cNvSpPr/>
          <p:nvPr/>
        </p:nvSpPr>
        <p:spPr>
          <a:xfrm>
            <a:off x="960120" y="378561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61288" y="370332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Generate text reports or import/export records</a:t>
            </a:r>
          </a:p>
        </p:txBody>
      </p:sp>
      <p:sp>
        <p:nvSpPr>
          <p:cNvPr id="13" name="Rounded Rectangle 12"/>
          <p:cNvSpPr/>
          <p:nvPr/>
        </p:nvSpPr>
        <p:spPr>
          <a:xfrm>
            <a:off x="960120" y="428853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61288" y="420624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Handle missing or malformed input safely</a:t>
            </a:r>
          </a:p>
        </p:txBody>
      </p:sp>
      <p:sp>
        <p:nvSpPr>
          <p:cNvPr id="15" name="Rounded Rectangle 14"/>
          <p:cNvSpPr/>
          <p:nvPr/>
        </p:nvSpPr>
        <p:spPr>
          <a:xfrm>
            <a:off x="6217920" y="1874519"/>
            <a:ext cx="5257800" cy="3429000"/>
          </a:xfrm>
          <a:prstGeom prst="roundRect">
            <a:avLst>
              <a:gd name="adj" fmla="val 12000"/>
            </a:avLst>
          </a:prstGeom>
          <a:solidFill>
            <a:srgbClr val="E0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2121408"/>
            <a:ext cx="4572000" cy="365760"/>
          </a:xfrm>
          <a:prstGeom prst="rect">
            <a:avLst/>
          </a:prstGeom>
          <a:noFill/>
        </p:spPr>
        <p:txBody>
          <a:bodyPr wrap="square" lIns="36576" tIns="27432" rIns="36576" bIns="18288">
            <a:spAutoFit/>
          </a:bodyPr>
          <a:lstStyle/>
          <a:p>
            <a:pPr>
              <a:defRPr sz="1500" b="1">
                <a:solidFill>
                  <a:srgbClr val="339774"/>
                </a:solidFill>
                <a:latin typeface="Aptos"/>
              </a:defRPr>
            </a:pPr>
            <a:r>
              <a:t>MODULE 6 • COLLECTIONS &amp; STREAMS</a:t>
            </a:r>
          </a:p>
        </p:txBody>
      </p:sp>
      <p:sp>
        <p:nvSpPr>
          <p:cNvPr id="17" name="Rounded Rectangle 16"/>
          <p:cNvSpPr/>
          <p:nvPr/>
        </p:nvSpPr>
        <p:spPr>
          <a:xfrm>
            <a:off x="6492240" y="277977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7" y="269748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List / ArrayList for course selections</a:t>
            </a:r>
          </a:p>
        </p:txBody>
      </p:sp>
      <p:sp>
        <p:nvSpPr>
          <p:cNvPr id="19" name="Rounded Rectangle 18"/>
          <p:cNvSpPr/>
          <p:nvPr/>
        </p:nvSpPr>
        <p:spPr>
          <a:xfrm>
            <a:off x="6492240" y="328269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7" y="320040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Map for lookup by course or student ID</a:t>
            </a:r>
          </a:p>
        </p:txBody>
      </p:sp>
      <p:sp>
        <p:nvSpPr>
          <p:cNvPr id="21" name="Rounded Rectangle 20"/>
          <p:cNvSpPr/>
          <p:nvPr/>
        </p:nvSpPr>
        <p:spPr>
          <a:xfrm>
            <a:off x="6492240" y="378561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93407" y="370332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Set to avoid duplicate registrations</a:t>
            </a:r>
          </a:p>
        </p:txBody>
      </p:sp>
      <p:sp>
        <p:nvSpPr>
          <p:cNvPr id="23" name="Rounded Rectangle 22"/>
          <p:cNvSpPr/>
          <p:nvPr/>
        </p:nvSpPr>
        <p:spPr>
          <a:xfrm>
            <a:off x="6492240" y="428853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93407" y="4206240"/>
            <a:ext cx="4370832" cy="484632"/>
          </a:xfrm>
          <a:prstGeom prst="rect">
            <a:avLst/>
          </a:prstGeom>
          <a:noFill/>
        </p:spPr>
        <p:txBody>
          <a:bodyPr wrap="square" lIns="36576" tIns="27432" rIns="36576" bIns="18288">
            <a:spAutoFit/>
          </a:bodyPr>
          <a:lstStyle/>
          <a:p>
            <a:pPr>
              <a:defRPr sz="1300" b="0">
                <a:solidFill>
                  <a:srgbClr val="202D40"/>
                </a:solidFill>
                <a:latin typeface="Aptos"/>
              </a:defRPr>
            </a:pPr>
            <a:r>
              <a:t>Streams for filtering courses and summarizing reports</a:t>
            </a:r>
          </a:p>
        </p:txBody>
      </p:sp>
      <p:sp>
        <p:nvSpPr>
          <p:cNvPr id="25" name="TextBox 24"/>
          <p:cNvSpPr txBox="1"/>
          <p:nvPr/>
        </p:nvSpPr>
        <p:spPr>
          <a:xfrm>
            <a:off x="822960" y="5623560"/>
            <a:ext cx="10607040" cy="347472"/>
          </a:xfrm>
          <a:prstGeom prst="rect">
            <a:avLst/>
          </a:prstGeom>
          <a:noFill/>
        </p:spPr>
        <p:txBody>
          <a:bodyPr wrap="square" lIns="36576" tIns="27432" rIns="36576" bIns="18288">
            <a:spAutoFit/>
          </a:bodyPr>
          <a:lstStyle/>
          <a:p>
            <a:pPr>
              <a:defRPr sz="1200" b="0">
                <a:solidFill>
                  <a:srgbClr val="5B6B80"/>
                </a:solidFill>
                <a:latin typeface="Aptos"/>
              </a:defRPr>
            </a:pPr>
            <a:r>
              <a:t>Persistence distinction: the uploaded architecture names a relational MySQL database; file I/O is an optional handout-aligned extension.</a:t>
            </a:r>
          </a:p>
        </p:txBody>
      </p:sp>
      <p:sp>
        <p:nvSpPr>
          <p:cNvPr id="26" name="TextBox 25"/>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27" name="TextBox 26"/>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274320"/>
          </a:xfrm>
          <a:prstGeom prst="rect">
            <a:avLst/>
          </a:prstGeom>
          <a:noFill/>
        </p:spPr>
        <p:txBody>
          <a:bodyPr wrap="square" lIns="36576" tIns="27432" rIns="36576" bIns="18288">
            <a:spAutoFit/>
          </a:bodyPr>
          <a:lstStyle/>
          <a:p>
            <a:pPr>
              <a:defRPr sz="1000" b="1">
                <a:solidFill>
                  <a:srgbClr val="225EA8"/>
                </a:solidFill>
                <a:latin typeface="Aptos"/>
              </a:defRPr>
            </a:pPr>
            <a:r>
              <a:t>02 • WORKFLOW</a:t>
            </a:r>
          </a:p>
        </p:txBody>
      </p:sp>
      <p:sp>
        <p:nvSpPr>
          <p:cNvPr id="3" name="TextBox 2"/>
          <p:cNvSpPr txBox="1"/>
          <p:nvPr/>
        </p:nvSpPr>
        <p:spPr>
          <a:xfrm>
            <a:off x="594360" y="658368"/>
            <a:ext cx="10972800" cy="530352"/>
          </a:xfrm>
          <a:prstGeom prst="rect">
            <a:avLst/>
          </a:prstGeom>
          <a:noFill/>
        </p:spPr>
        <p:txBody>
          <a:bodyPr wrap="square" lIns="36576" tIns="27432" rIns="36576" bIns="18288">
            <a:spAutoFit/>
          </a:bodyPr>
          <a:lstStyle/>
          <a:p>
            <a:pPr>
              <a:defRPr sz="2700" b="1">
                <a:solidFill>
                  <a:srgbClr val="0E1C34"/>
                </a:solidFill>
                <a:latin typeface="Aptos"/>
              </a:defRPr>
            </a:pPr>
            <a:r>
              <a:t>Input → Process → Output</a:t>
            </a:r>
          </a:p>
        </p:txBody>
      </p:sp>
      <p:sp>
        <p:nvSpPr>
          <p:cNvPr id="4" name="TextBox 3"/>
          <p:cNvSpPr txBox="1"/>
          <p:nvPr/>
        </p:nvSpPr>
        <p:spPr>
          <a:xfrm>
            <a:off x="612648" y="1234440"/>
            <a:ext cx="10972800" cy="411480"/>
          </a:xfrm>
          <a:prstGeom prst="rect">
            <a:avLst/>
          </a:prstGeom>
          <a:noFill/>
        </p:spPr>
        <p:txBody>
          <a:bodyPr wrap="square" lIns="36576" tIns="27432" rIns="36576" bIns="18288">
            <a:spAutoFit/>
          </a:bodyPr>
          <a:lstStyle/>
          <a:p>
            <a:pPr>
              <a:defRPr sz="1200" b="0">
                <a:solidFill>
                  <a:srgbClr val="5B6B80"/>
                </a:solidFill>
                <a:latin typeface="Aptos"/>
              </a:defRPr>
            </a:pPr>
            <a:r>
              <a:t>The IPO model connects Module 1 problem-solving to the project workflow.</a:t>
            </a:r>
          </a:p>
        </p:txBody>
      </p:sp>
      <p:sp>
        <p:nvSpPr>
          <p:cNvPr id="5" name="Rounded Rectangle 4"/>
          <p:cNvSpPr/>
          <p:nvPr/>
        </p:nvSpPr>
        <p:spPr>
          <a:xfrm>
            <a:off x="685800" y="1965960"/>
            <a:ext cx="3429000" cy="3200400"/>
          </a:xfrm>
          <a:prstGeom prst="roundRect">
            <a:avLst>
              <a:gd name="adj" fmla="val 12000"/>
            </a:avLst>
          </a:prstGeom>
          <a:solidFill>
            <a:srgbClr val="F7F9FC"/>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965960"/>
            <a:ext cx="3429000" cy="502920"/>
          </a:xfrm>
          <a:prstGeom prst="roundRect">
            <a:avLst>
              <a:gd name="adj" fmla="val 12000"/>
            </a:avLst>
          </a:prstGeom>
          <a:solidFill>
            <a:srgbClr val="225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084831"/>
            <a:ext cx="3017520" cy="228600"/>
          </a:xfrm>
          <a:prstGeom prst="rect">
            <a:avLst/>
          </a:prstGeom>
          <a:noFill/>
        </p:spPr>
        <p:txBody>
          <a:bodyPr wrap="square" lIns="36576" tIns="27432" rIns="36576" bIns="18288">
            <a:spAutoFit/>
          </a:bodyPr>
          <a:lstStyle/>
          <a:p>
            <a:pPr algn="ctr">
              <a:defRPr sz="1500" b="1">
                <a:solidFill>
                  <a:srgbClr val="F7F9FC"/>
                </a:solidFill>
                <a:latin typeface="Aptos"/>
              </a:defRPr>
            </a:pPr>
            <a:r>
              <a:t>INPUT</a:t>
            </a:r>
          </a:p>
        </p:txBody>
      </p:sp>
      <p:sp>
        <p:nvSpPr>
          <p:cNvPr id="8" name="Rounded Rectangle 7"/>
          <p:cNvSpPr/>
          <p:nvPr/>
        </p:nvSpPr>
        <p:spPr>
          <a:xfrm>
            <a:off x="960120" y="282549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61288" y="2743200"/>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Student ID and selected courses</a:t>
            </a:r>
          </a:p>
        </p:txBody>
      </p:sp>
      <p:sp>
        <p:nvSpPr>
          <p:cNvPr id="10" name="Rounded Rectangle 9"/>
          <p:cNvSpPr/>
          <p:nvPr/>
        </p:nvSpPr>
        <p:spPr>
          <a:xfrm>
            <a:off x="960120" y="3483863"/>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61288" y="3401568"/>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Course prerequisites and credits</a:t>
            </a:r>
          </a:p>
        </p:txBody>
      </p:sp>
      <p:sp>
        <p:nvSpPr>
          <p:cNvPr id="12" name="Rounded Rectangle 11"/>
          <p:cNvSpPr/>
          <p:nvPr/>
        </p:nvSpPr>
        <p:spPr>
          <a:xfrm>
            <a:off x="960120" y="4142231"/>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61288" y="4059935"/>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Faculty availability, rooms, time slots</a:t>
            </a:r>
          </a:p>
        </p:txBody>
      </p:sp>
      <p:sp>
        <p:nvSpPr>
          <p:cNvPr id="14" name="TextBox 13"/>
          <p:cNvSpPr txBox="1"/>
          <p:nvPr/>
        </p:nvSpPr>
        <p:spPr>
          <a:xfrm>
            <a:off x="4142231" y="3246120"/>
            <a:ext cx="365760" cy="457200"/>
          </a:xfrm>
          <a:prstGeom prst="rect">
            <a:avLst/>
          </a:prstGeom>
          <a:noFill/>
        </p:spPr>
        <p:txBody>
          <a:bodyPr wrap="square" lIns="36576" tIns="27432" rIns="36576" bIns="18288">
            <a:spAutoFit/>
          </a:bodyPr>
          <a:lstStyle/>
          <a:p>
            <a:pPr algn="ctr">
              <a:defRPr sz="2500" b="1">
                <a:solidFill>
                  <a:srgbClr val="38BDD2"/>
                </a:solidFill>
                <a:latin typeface="Aptos"/>
              </a:defRPr>
            </a:pPr>
            <a:r>
              <a:t>→</a:t>
            </a:r>
          </a:p>
        </p:txBody>
      </p:sp>
      <p:sp>
        <p:nvSpPr>
          <p:cNvPr id="15" name="Rounded Rectangle 14"/>
          <p:cNvSpPr/>
          <p:nvPr/>
        </p:nvSpPr>
        <p:spPr>
          <a:xfrm>
            <a:off x="4544568" y="1965960"/>
            <a:ext cx="3429000" cy="3200400"/>
          </a:xfrm>
          <a:prstGeom prst="roundRect">
            <a:avLst>
              <a:gd name="adj" fmla="val 12000"/>
            </a:avLst>
          </a:prstGeom>
          <a:solidFill>
            <a:srgbClr val="F7F9FC"/>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544568" y="1965960"/>
            <a:ext cx="3429000" cy="502920"/>
          </a:xfrm>
          <a:prstGeom prst="roundRect">
            <a:avLst>
              <a:gd name="adj" fmla="val 12000"/>
            </a:avLst>
          </a:prstGeom>
          <a:solidFill>
            <a:srgbClr val="339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27448" y="2084831"/>
            <a:ext cx="3017520" cy="228600"/>
          </a:xfrm>
          <a:prstGeom prst="rect">
            <a:avLst/>
          </a:prstGeom>
          <a:noFill/>
        </p:spPr>
        <p:txBody>
          <a:bodyPr wrap="square" lIns="36576" tIns="27432" rIns="36576" bIns="18288">
            <a:spAutoFit/>
          </a:bodyPr>
          <a:lstStyle/>
          <a:p>
            <a:pPr algn="ctr">
              <a:defRPr sz="1500" b="1">
                <a:solidFill>
                  <a:srgbClr val="F7F9FC"/>
                </a:solidFill>
                <a:latin typeface="Aptos"/>
              </a:defRPr>
            </a:pPr>
            <a:r>
              <a:t>PROCESS</a:t>
            </a:r>
          </a:p>
        </p:txBody>
      </p:sp>
      <p:sp>
        <p:nvSpPr>
          <p:cNvPr id="18" name="Rounded Rectangle 17"/>
          <p:cNvSpPr/>
          <p:nvPr/>
        </p:nvSpPr>
        <p:spPr>
          <a:xfrm>
            <a:off x="4818888" y="282549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0055" y="2743200"/>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Validate registration rules</a:t>
            </a:r>
          </a:p>
        </p:txBody>
      </p:sp>
      <p:sp>
        <p:nvSpPr>
          <p:cNvPr id="20" name="Rounded Rectangle 19"/>
          <p:cNvSpPr/>
          <p:nvPr/>
        </p:nvSpPr>
        <p:spPr>
          <a:xfrm>
            <a:off x="4818888" y="3483863"/>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401568"/>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Detect overlapping time slots</a:t>
            </a:r>
          </a:p>
        </p:txBody>
      </p:sp>
      <p:sp>
        <p:nvSpPr>
          <p:cNvPr id="22" name="Rounded Rectangle 21"/>
          <p:cNvSpPr/>
          <p:nvPr/>
        </p:nvSpPr>
        <p:spPr>
          <a:xfrm>
            <a:off x="4818888" y="4142231"/>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0055" y="4059935"/>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Apply constraints and generate schedule</a:t>
            </a:r>
          </a:p>
        </p:txBody>
      </p:sp>
      <p:sp>
        <p:nvSpPr>
          <p:cNvPr id="24" name="TextBox 23"/>
          <p:cNvSpPr txBox="1"/>
          <p:nvPr/>
        </p:nvSpPr>
        <p:spPr>
          <a:xfrm>
            <a:off x="8001000" y="3246120"/>
            <a:ext cx="365760" cy="457200"/>
          </a:xfrm>
          <a:prstGeom prst="rect">
            <a:avLst/>
          </a:prstGeom>
          <a:noFill/>
        </p:spPr>
        <p:txBody>
          <a:bodyPr wrap="square" lIns="36576" tIns="27432" rIns="36576" bIns="18288">
            <a:spAutoFit/>
          </a:bodyPr>
          <a:lstStyle/>
          <a:p>
            <a:pPr algn="ctr">
              <a:defRPr sz="2500" b="1">
                <a:solidFill>
                  <a:srgbClr val="38BDD2"/>
                </a:solidFill>
                <a:latin typeface="Aptos"/>
              </a:defRPr>
            </a:pPr>
            <a:r>
              <a:t>→</a:t>
            </a:r>
          </a:p>
        </p:txBody>
      </p:sp>
      <p:sp>
        <p:nvSpPr>
          <p:cNvPr id="25" name="Rounded Rectangle 24"/>
          <p:cNvSpPr/>
          <p:nvPr/>
        </p:nvSpPr>
        <p:spPr>
          <a:xfrm>
            <a:off x="8403336" y="1965960"/>
            <a:ext cx="3429000" cy="3200400"/>
          </a:xfrm>
          <a:prstGeom prst="roundRect">
            <a:avLst>
              <a:gd name="adj" fmla="val 12000"/>
            </a:avLst>
          </a:prstGeom>
          <a:solidFill>
            <a:srgbClr val="F7F9FC"/>
          </a:solidFill>
          <a:ln>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403336" y="1965960"/>
            <a:ext cx="3429000" cy="502920"/>
          </a:xfrm>
          <a:prstGeom prst="roundRect">
            <a:avLst>
              <a:gd name="adj" fmla="val 12000"/>
            </a:avLst>
          </a:prstGeom>
          <a:solidFill>
            <a:srgbClr val="825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86215" y="2084831"/>
            <a:ext cx="3017520" cy="228600"/>
          </a:xfrm>
          <a:prstGeom prst="rect">
            <a:avLst/>
          </a:prstGeom>
          <a:noFill/>
        </p:spPr>
        <p:txBody>
          <a:bodyPr wrap="square" lIns="36576" tIns="27432" rIns="36576" bIns="18288">
            <a:spAutoFit/>
          </a:bodyPr>
          <a:lstStyle/>
          <a:p>
            <a:pPr algn="ctr">
              <a:defRPr sz="1500" b="1">
                <a:solidFill>
                  <a:srgbClr val="F7F9FC"/>
                </a:solidFill>
                <a:latin typeface="Aptos"/>
              </a:defRPr>
            </a:pPr>
            <a:r>
              <a:t>OUTPUT</a:t>
            </a:r>
          </a:p>
        </p:txBody>
      </p:sp>
      <p:sp>
        <p:nvSpPr>
          <p:cNvPr id="28" name="Rounded Rectangle 27"/>
          <p:cNvSpPr/>
          <p:nvPr/>
        </p:nvSpPr>
        <p:spPr>
          <a:xfrm>
            <a:off x="8677656" y="2825496"/>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78824" y="2743200"/>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Registration status</a:t>
            </a:r>
          </a:p>
        </p:txBody>
      </p:sp>
      <p:sp>
        <p:nvSpPr>
          <p:cNvPr id="30" name="Rounded Rectangle 29"/>
          <p:cNvSpPr/>
          <p:nvPr/>
        </p:nvSpPr>
        <p:spPr>
          <a:xfrm>
            <a:off x="8677656" y="3483863"/>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78824" y="3401568"/>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Personal timetable</a:t>
            </a:r>
          </a:p>
        </p:txBody>
      </p:sp>
      <p:sp>
        <p:nvSpPr>
          <p:cNvPr id="32" name="Rounded Rectangle 31"/>
          <p:cNvSpPr/>
          <p:nvPr/>
        </p:nvSpPr>
        <p:spPr>
          <a:xfrm>
            <a:off x="8677656" y="4142231"/>
            <a:ext cx="91440" cy="91440"/>
          </a:xfrm>
          <a:prstGeom prst="roundRect">
            <a:avLst>
              <a:gd name="adj" fmla="val 12000"/>
            </a:avLst>
          </a:prstGeom>
          <a:solidFill>
            <a:srgbClr val="38B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78824" y="4059935"/>
            <a:ext cx="2724912" cy="640080"/>
          </a:xfrm>
          <a:prstGeom prst="rect">
            <a:avLst/>
          </a:prstGeom>
          <a:noFill/>
        </p:spPr>
        <p:txBody>
          <a:bodyPr wrap="square" lIns="36576" tIns="27432" rIns="36576" bIns="18288">
            <a:spAutoFit/>
          </a:bodyPr>
          <a:lstStyle/>
          <a:p>
            <a:pPr>
              <a:defRPr sz="1400" b="0">
                <a:solidFill>
                  <a:srgbClr val="202D40"/>
                </a:solidFill>
                <a:latin typeface="Aptos"/>
              </a:defRPr>
            </a:pPr>
            <a:r>
              <a:t>Conflict and resource reports</a:t>
            </a:r>
          </a:p>
        </p:txBody>
      </p:sp>
      <p:sp>
        <p:nvSpPr>
          <p:cNvPr id="34" name="TextBox 33"/>
          <p:cNvSpPr txBox="1"/>
          <p:nvPr/>
        </p:nvSpPr>
        <p:spPr>
          <a:xfrm>
            <a:off x="822960" y="5623560"/>
            <a:ext cx="10515600" cy="384048"/>
          </a:xfrm>
          <a:prstGeom prst="rect">
            <a:avLst/>
          </a:prstGeom>
          <a:noFill/>
        </p:spPr>
        <p:txBody>
          <a:bodyPr wrap="square" lIns="36576" tIns="27432" rIns="36576" bIns="18288">
            <a:spAutoFit/>
          </a:bodyPr>
          <a:lstStyle/>
          <a:p>
            <a:pPr>
              <a:defRPr sz="1400" b="0">
                <a:solidFill>
                  <a:srgbClr val="5B6B80"/>
                </a:solidFill>
                <a:latin typeface="Aptos"/>
              </a:defRPr>
            </a:pPr>
            <a:r>
              <a:t>Algorithmic thinking: decompose registration, validation, conflict checking and timetable generation into smaller steps.</a:t>
            </a:r>
          </a:p>
        </p:txBody>
      </p:sp>
      <p:sp>
        <p:nvSpPr>
          <p:cNvPr id="35" name="TextBox 34"/>
          <p:cNvSpPr txBox="1"/>
          <p:nvPr/>
        </p:nvSpPr>
        <p:spPr>
          <a:xfrm>
            <a:off x="594360" y="6519672"/>
            <a:ext cx="9144000" cy="182880"/>
          </a:xfrm>
          <a:prstGeom prst="rect">
            <a:avLst/>
          </a:prstGeom>
          <a:noFill/>
        </p:spPr>
        <p:txBody>
          <a:bodyPr wrap="square" lIns="36576" tIns="27432" rIns="36576" bIns="18288">
            <a:spAutoFit/>
          </a:bodyPr>
          <a:lstStyle/>
          <a:p>
            <a:pPr>
              <a:defRPr sz="800" b="0">
                <a:solidFill>
                  <a:srgbClr val="5B6B80"/>
                </a:solidFill>
                <a:latin typeface="Aptos"/>
              </a:defRPr>
            </a:pPr>
            <a:r>
              <a:t>PSP (JAVA)  •  PROJECT–SYLLABUS ALIGNMENT</a:t>
            </a:r>
          </a:p>
        </p:txBody>
      </p:sp>
      <p:sp>
        <p:nvSpPr>
          <p:cNvPr id="36" name="TextBox 35"/>
          <p:cNvSpPr txBox="1"/>
          <p:nvPr/>
        </p:nvSpPr>
        <p:spPr>
          <a:xfrm>
            <a:off x="11064240" y="6492240"/>
            <a:ext cx="502920" cy="201168"/>
          </a:xfrm>
          <a:prstGeom prst="rect">
            <a:avLst/>
          </a:prstGeom>
          <a:noFill/>
        </p:spPr>
        <p:txBody>
          <a:bodyPr wrap="square" lIns="36576" tIns="27432" rIns="36576" bIns="18288">
            <a:spAutoFit/>
          </a:bodyPr>
          <a:lstStyle/>
          <a:p>
            <a:pPr algn="r">
              <a:defRPr sz="900" b="1">
                <a:solidFill>
                  <a:srgbClr val="5B6B80"/>
                </a:solidFill>
                <a:latin typeface="Aptos"/>
              </a:defRPr>
            </a:pPr>
            <a:r>
              <a:t>03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126"/>
        </a:solidFill>
        <a:effectLst/>
      </p:bgPr>
    </p:bg>
    <p:spTree>
      <p:nvGrpSpPr>
        <p:cNvPr id="1" name=""/>
        <p:cNvGrpSpPr/>
        <p:nvPr/>
      </p:nvGrpSpPr>
      <p:grpSpPr>
        <a:xfrm>
          <a:off x="0" y="0"/>
          <a:ext cx="0" cy="0"/>
          <a:chOff x="0" y="0"/>
          <a:chExt cx="0" cy="0"/>
        </a:xfrm>
      </p:grpSpPr>
      <p:sp>
        <p:nvSpPr>
          <p:cNvPr id="2" name="Parallelogram 1"/>
          <p:cNvSpPr/>
          <p:nvPr/>
        </p:nvSpPr>
        <p:spPr>
          <a:xfrm>
            <a:off x="8732520" y="-228600"/>
            <a:ext cx="3749039" cy="7315200"/>
          </a:xfrm>
          <a:prstGeom prst="parallelogram">
            <a:avLst/>
          </a:prstGeom>
          <a:solidFill>
            <a:srgbClr val="0D1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9829800" y="-228600"/>
            <a:ext cx="2560320" cy="7315200"/>
          </a:xfrm>
          <a:prstGeom prst="parallelogram">
            <a:avLst/>
          </a:prstGeom>
          <a:solidFill>
            <a:srgbClr val="10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1440"/>
          </a:xfrm>
          <a:prstGeom prst="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378440" y="914400"/>
            <a:ext cx="128016" cy="128016"/>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72800" y="1325880"/>
            <a:ext cx="82296" cy="82296"/>
          </a:xfrm>
          <a:prstGeom prst="ellipse">
            <a:avLst/>
          </a:prstGeom>
          <a:solidFill>
            <a:srgbClr val="347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012680" y="1828800"/>
            <a:ext cx="73152" cy="73152"/>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2840" y="2240280"/>
            <a:ext cx="109728" cy="109728"/>
          </a:xfrm>
          <a:prstGeom prst="ellipse">
            <a:avLst/>
          </a:prstGeom>
          <a:solidFill>
            <a:srgbClr val="347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2743200"/>
            <a:ext cx="91440" cy="91440"/>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972800" y="3246120"/>
            <a:ext cx="73152" cy="73152"/>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473952"/>
            <a:ext cx="10972800" cy="201168"/>
          </a:xfrm>
          <a:prstGeom prst="rect">
            <a:avLst/>
          </a:prstGeom>
          <a:noFill/>
        </p:spPr>
        <p:txBody>
          <a:bodyPr wrap="none">
            <a:spAutoFit/>
          </a:bodyPr>
          <a:lstStyle/>
          <a:p>
            <a:pPr>
              <a:defRPr sz="900">
                <a:solidFill>
                  <a:srgbClr val="7F99BC"/>
                </a:solidFill>
                <a:latin typeface="Aptos"/>
              </a:defRPr>
            </a:pPr>
            <a:r>
              <a:t>PSP (JAVA)  •  COURSE REGISTRATION &amp; TIMETABLE BUILDER                                      11</a:t>
            </a:r>
          </a:p>
        </p:txBody>
      </p:sp>
      <p:sp>
        <p:nvSpPr>
          <p:cNvPr id="12" name="TextBox 11"/>
          <p:cNvSpPr txBox="1"/>
          <p:nvPr/>
        </p:nvSpPr>
        <p:spPr>
          <a:xfrm>
            <a:off x="731520" y="566928"/>
            <a:ext cx="7955279" cy="320040"/>
          </a:xfrm>
          <a:prstGeom prst="rect">
            <a:avLst/>
          </a:prstGeom>
          <a:noFill/>
        </p:spPr>
        <p:txBody>
          <a:bodyPr wrap="square">
            <a:spAutoFit/>
          </a:bodyPr>
          <a:lstStyle/>
          <a:p>
            <a:pPr algn="l">
              <a:defRPr sz="1200" b="1">
                <a:solidFill>
                  <a:srgbClr val="00DAE1"/>
                </a:solidFill>
                <a:latin typeface="Aptos Display"/>
              </a:defRPr>
            </a:pPr>
            <a:r>
              <a:t>PROJECT OUTCOME  /  11</a:t>
            </a:r>
          </a:p>
        </p:txBody>
      </p:sp>
      <p:sp>
        <p:nvSpPr>
          <p:cNvPr id="13" name="TextBox 12"/>
          <p:cNvSpPr txBox="1"/>
          <p:nvPr/>
        </p:nvSpPr>
        <p:spPr>
          <a:xfrm>
            <a:off x="731520" y="1024128"/>
            <a:ext cx="8229600" cy="731520"/>
          </a:xfrm>
          <a:prstGeom prst="rect">
            <a:avLst/>
          </a:prstGeom>
          <a:noFill/>
        </p:spPr>
        <p:txBody>
          <a:bodyPr wrap="square">
            <a:spAutoFit/>
          </a:bodyPr>
          <a:lstStyle/>
          <a:p>
            <a:pPr algn="l">
              <a:defRPr sz="3400" b="1">
                <a:solidFill>
                  <a:srgbClr val="F6F9FF"/>
                </a:solidFill>
                <a:latin typeface="Aptos Display"/>
              </a:defRPr>
            </a:pPr>
            <a:r>
              <a:t>Conclusion</a:t>
            </a:r>
          </a:p>
        </p:txBody>
      </p:sp>
      <p:sp>
        <p:nvSpPr>
          <p:cNvPr id="14" name="Rectangle 13"/>
          <p:cNvSpPr/>
          <p:nvPr/>
        </p:nvSpPr>
        <p:spPr>
          <a:xfrm>
            <a:off x="749808" y="1874519"/>
            <a:ext cx="960120" cy="64008"/>
          </a:xfrm>
          <a:prstGeom prst="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212848"/>
            <a:ext cx="7955279" cy="1600200"/>
          </a:xfrm>
          <a:prstGeom prst="rect">
            <a:avLst/>
          </a:prstGeom>
          <a:noFill/>
        </p:spPr>
        <p:txBody>
          <a:bodyPr wrap="square">
            <a:spAutoFit/>
          </a:bodyPr>
          <a:lstStyle/>
          <a:p>
            <a:pPr algn="l">
              <a:defRPr sz="2000" b="0">
                <a:solidFill>
                  <a:srgbClr val="CEDCF0"/>
                </a:solidFill>
                <a:latin typeface="Aptos"/>
              </a:defRPr>
            </a:pPr>
            <a:r>
              <a:t>The Course Registration &amp; Timetable Builder provides a structured approach to course selection and timetable preparation. By validating prerequisites, credit limits, time-slot clashes, and resource availability, the project can reduce manual effort and improve the accuracy of academic planning.</a:t>
            </a:r>
          </a:p>
        </p:txBody>
      </p:sp>
      <p:sp>
        <p:nvSpPr>
          <p:cNvPr id="16" name="Rounded Rectangle 15"/>
          <p:cNvSpPr/>
          <p:nvPr/>
        </p:nvSpPr>
        <p:spPr>
          <a:xfrm>
            <a:off x="731520" y="4251960"/>
            <a:ext cx="8046720" cy="1417320"/>
          </a:xfrm>
          <a:prstGeom prst="roundRect">
            <a:avLst/>
          </a:prstGeom>
          <a:solidFill>
            <a:srgbClr val="11203D"/>
          </a:solidFill>
          <a:ln>
            <a:solidFill>
              <a:srgbClr val="26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498848"/>
            <a:ext cx="2377440" cy="274320"/>
          </a:xfrm>
          <a:prstGeom prst="rect">
            <a:avLst/>
          </a:prstGeom>
          <a:noFill/>
        </p:spPr>
        <p:txBody>
          <a:bodyPr wrap="square">
            <a:spAutoFit/>
          </a:bodyPr>
          <a:lstStyle/>
          <a:p>
            <a:pPr algn="l">
              <a:defRPr sz="1200" b="1">
                <a:solidFill>
                  <a:srgbClr val="00DAE1"/>
                </a:solidFill>
                <a:latin typeface="Aptos Display"/>
              </a:defRPr>
            </a:pPr>
            <a:r>
              <a:t>FUTURE ENHANCEMENTS</a:t>
            </a:r>
          </a:p>
        </p:txBody>
      </p:sp>
      <p:sp>
        <p:nvSpPr>
          <p:cNvPr id="18" name="TextBox 17"/>
          <p:cNvSpPr txBox="1"/>
          <p:nvPr/>
        </p:nvSpPr>
        <p:spPr>
          <a:xfrm>
            <a:off x="1005840" y="4846320"/>
            <a:ext cx="7315200" cy="594360"/>
          </a:xfrm>
          <a:prstGeom prst="rect">
            <a:avLst/>
          </a:prstGeom>
          <a:noFill/>
        </p:spPr>
        <p:txBody>
          <a:bodyPr wrap="square">
            <a:spAutoFit/>
          </a:bodyPr>
          <a:lstStyle/>
          <a:p>
            <a:pPr algn="l">
              <a:defRPr sz="1600" b="0">
                <a:solidFill>
                  <a:srgbClr val="F6F9FF"/>
                </a:solidFill>
                <a:latin typeface="Aptos"/>
              </a:defRPr>
            </a:pPr>
            <a:r>
              <a:t>Actual Java class implementation  •  Exception-safe validation  •  Database operations  •  Testing and reports</a:t>
            </a:r>
          </a:p>
        </p:txBody>
      </p:sp>
      <p:sp>
        <p:nvSpPr>
          <p:cNvPr id="19" name="Oval 18"/>
          <p:cNvSpPr/>
          <p:nvPr/>
        </p:nvSpPr>
        <p:spPr>
          <a:xfrm>
            <a:off x="9646920" y="2331720"/>
            <a:ext cx="1325880" cy="1325880"/>
          </a:xfrm>
          <a:prstGeom prst="ellipse">
            <a:avLst/>
          </a:prstGeom>
          <a:solidFill>
            <a:srgbClr val="0E3D53"/>
          </a:solidFill>
          <a:ln w="31750">
            <a:solidFill>
              <a:srgbClr val="00DA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rot="18900000">
            <a:off x="9948672" y="2999232"/>
            <a:ext cx="164592" cy="438912"/>
          </a:xfrm>
          <a:prstGeom prst="round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rot="2700000">
            <a:off x="10204704" y="2761488"/>
            <a:ext cx="164592" cy="685800"/>
          </a:xfrm>
          <a:prstGeom prst="round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15400" y="4069080"/>
            <a:ext cx="2697480" cy="640080"/>
          </a:xfrm>
          <a:prstGeom prst="rect">
            <a:avLst/>
          </a:prstGeom>
          <a:noFill/>
        </p:spPr>
        <p:txBody>
          <a:bodyPr wrap="square">
            <a:spAutoFit/>
          </a:bodyPr>
          <a:lstStyle/>
          <a:p>
            <a:pPr algn="ctr">
              <a:defRPr sz="1100" b="1">
                <a:solidFill>
                  <a:srgbClr val="CEDCF0"/>
                </a:solidFill>
                <a:latin typeface="Aptos Display"/>
              </a:defRPr>
            </a:pPr>
            <a:r>
              <a:t>ACCURATE  •  EFFICIENT  •  ORGANIZED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126"/>
        </a:solidFill>
        <a:effectLst/>
      </p:bgPr>
    </p:bg>
    <p:spTree>
      <p:nvGrpSpPr>
        <p:cNvPr id="1" name=""/>
        <p:cNvGrpSpPr/>
        <p:nvPr/>
      </p:nvGrpSpPr>
      <p:grpSpPr>
        <a:xfrm>
          <a:off x="0" y="0"/>
          <a:ext cx="0" cy="0"/>
          <a:chOff x="0" y="0"/>
          <a:chExt cx="0" cy="0"/>
        </a:xfrm>
      </p:grpSpPr>
      <p:sp>
        <p:nvSpPr>
          <p:cNvPr id="2" name="Parallelogram 1"/>
          <p:cNvSpPr/>
          <p:nvPr/>
        </p:nvSpPr>
        <p:spPr>
          <a:xfrm>
            <a:off x="8732520" y="-228600"/>
            <a:ext cx="3749039" cy="7315200"/>
          </a:xfrm>
          <a:prstGeom prst="parallelogram">
            <a:avLst/>
          </a:prstGeom>
          <a:solidFill>
            <a:srgbClr val="0D1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9829800" y="-228600"/>
            <a:ext cx="2560320" cy="7315200"/>
          </a:xfrm>
          <a:prstGeom prst="parallelogram">
            <a:avLst/>
          </a:prstGeom>
          <a:solidFill>
            <a:srgbClr val="10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1440"/>
          </a:xfrm>
          <a:prstGeom prst="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548640"/>
            <a:ext cx="10698480" cy="914400"/>
          </a:xfrm>
          <a:prstGeom prst="rect">
            <a:avLst/>
          </a:prstGeom>
          <a:noFill/>
        </p:spPr>
        <p:txBody>
          <a:bodyPr wrap="none">
            <a:spAutoFit/>
          </a:bodyPr>
          <a:lstStyle/>
          <a:p>
            <a:pPr algn="ctr">
              <a:defRPr sz="3400" b="1">
                <a:solidFill>
                  <a:srgbClr val="F6F9FF"/>
                </a:solidFill>
                <a:latin typeface="Aptos Display"/>
              </a:defRPr>
            </a:pPr>
            <a:r>
              <a:rPr dirty="0"/>
              <a:t>Geo Tag Photo and </a:t>
            </a:r>
            <a:r>
              <a:rPr dirty="0" err="1"/>
              <a:t>Github</a:t>
            </a:r>
            <a:r>
              <a:rPr dirty="0"/>
              <a:t> Link</a:t>
            </a:r>
          </a:p>
        </p:txBody>
      </p:sp>
      <p:pic>
        <p:nvPicPr>
          <p:cNvPr id="7" name="Picture 6">
            <a:extLst>
              <a:ext uri="{FF2B5EF4-FFF2-40B4-BE49-F238E27FC236}">
                <a16:creationId xmlns:a16="http://schemas.microsoft.com/office/drawing/2014/main" id="{8FC993FB-95AC-BC27-416D-AB9AA1561CD4}"/>
              </a:ext>
            </a:extLst>
          </p:cNvPr>
          <p:cNvPicPr>
            <a:picLocks noChangeAspect="1"/>
          </p:cNvPicPr>
          <p:nvPr/>
        </p:nvPicPr>
        <p:blipFill>
          <a:blip r:embed="rId2"/>
          <a:stretch>
            <a:fillRect/>
          </a:stretch>
        </p:blipFill>
        <p:spPr>
          <a:xfrm>
            <a:off x="2807970" y="1239012"/>
            <a:ext cx="5532119" cy="3634740"/>
          </a:xfrm>
          <a:prstGeom prst="rect">
            <a:avLst/>
          </a:prstGeom>
        </p:spPr>
      </p:pic>
      <p:sp>
        <p:nvSpPr>
          <p:cNvPr id="9" name="TextBox 8">
            <a:extLst>
              <a:ext uri="{FF2B5EF4-FFF2-40B4-BE49-F238E27FC236}">
                <a16:creationId xmlns:a16="http://schemas.microsoft.com/office/drawing/2014/main" id="{7E9BCCCD-EB05-50F7-3245-59D5C5AC7400}"/>
              </a:ext>
            </a:extLst>
          </p:cNvPr>
          <p:cNvSpPr txBox="1"/>
          <p:nvPr/>
        </p:nvSpPr>
        <p:spPr>
          <a:xfrm>
            <a:off x="2727198" y="5240958"/>
            <a:ext cx="6286500" cy="646331"/>
          </a:xfrm>
          <a:prstGeom prst="rect">
            <a:avLst/>
          </a:prstGeom>
          <a:noFill/>
        </p:spPr>
        <p:txBody>
          <a:bodyPr wrap="square">
            <a:spAutoFit/>
          </a:bodyPr>
          <a:lstStyle/>
          <a:p>
            <a:r>
              <a:rPr lang="en-IN" dirty="0">
                <a:solidFill>
                  <a:schemeClr val="bg1"/>
                </a:solidFill>
              </a:rPr>
              <a:t>https://github.com/MOHIITHKAMAL/COURSE-REGISTRATION-TIMETABLE-BUILDER..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126"/>
        </a:solidFill>
        <a:effectLst/>
      </p:bgPr>
    </p:bg>
    <p:spTree>
      <p:nvGrpSpPr>
        <p:cNvPr id="1" name=""/>
        <p:cNvGrpSpPr/>
        <p:nvPr/>
      </p:nvGrpSpPr>
      <p:grpSpPr>
        <a:xfrm>
          <a:off x="0" y="0"/>
          <a:ext cx="0" cy="0"/>
          <a:chOff x="0" y="0"/>
          <a:chExt cx="0" cy="0"/>
        </a:xfrm>
      </p:grpSpPr>
      <p:sp>
        <p:nvSpPr>
          <p:cNvPr id="2" name="Parallelogram 1"/>
          <p:cNvSpPr/>
          <p:nvPr/>
        </p:nvSpPr>
        <p:spPr>
          <a:xfrm>
            <a:off x="8732520" y="-228600"/>
            <a:ext cx="3749039" cy="7315200"/>
          </a:xfrm>
          <a:prstGeom prst="parallelogram">
            <a:avLst/>
          </a:prstGeom>
          <a:solidFill>
            <a:srgbClr val="0D1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9829800" y="-228600"/>
            <a:ext cx="2560320" cy="7315200"/>
          </a:xfrm>
          <a:prstGeom prst="parallelogram">
            <a:avLst/>
          </a:prstGeom>
          <a:solidFill>
            <a:srgbClr val="10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1440"/>
          </a:xfrm>
          <a:prstGeom prst="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378440" y="914400"/>
            <a:ext cx="128016" cy="128016"/>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72800" y="1325880"/>
            <a:ext cx="82296" cy="82296"/>
          </a:xfrm>
          <a:prstGeom prst="ellipse">
            <a:avLst/>
          </a:prstGeom>
          <a:solidFill>
            <a:srgbClr val="347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012680" y="1828800"/>
            <a:ext cx="73152" cy="73152"/>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2840" y="2240280"/>
            <a:ext cx="109728" cy="109728"/>
          </a:xfrm>
          <a:prstGeom prst="ellipse">
            <a:avLst/>
          </a:prstGeom>
          <a:solidFill>
            <a:srgbClr val="347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58400" y="2743200"/>
            <a:ext cx="91440" cy="91440"/>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972800" y="3246120"/>
            <a:ext cx="73152" cy="73152"/>
          </a:xfrm>
          <a:prstGeom prst="ellipse">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473952"/>
            <a:ext cx="10972800" cy="201168"/>
          </a:xfrm>
          <a:prstGeom prst="rect">
            <a:avLst/>
          </a:prstGeom>
          <a:noFill/>
        </p:spPr>
        <p:txBody>
          <a:bodyPr wrap="none">
            <a:spAutoFit/>
          </a:bodyPr>
          <a:lstStyle/>
          <a:p>
            <a:pPr>
              <a:defRPr sz="900">
                <a:solidFill>
                  <a:srgbClr val="7F99BC"/>
                </a:solidFill>
                <a:latin typeface="Aptos"/>
              </a:defRPr>
            </a:pPr>
            <a:r>
              <a:t>PSP (JAVA)  •  COURSE REGISTRATION &amp; TIMETABLE BUILDER                                      12</a:t>
            </a:r>
          </a:p>
        </p:txBody>
      </p:sp>
      <p:sp>
        <p:nvSpPr>
          <p:cNvPr id="12" name="TextBox 11"/>
          <p:cNvSpPr txBox="1"/>
          <p:nvPr/>
        </p:nvSpPr>
        <p:spPr>
          <a:xfrm>
            <a:off x="914400" y="1417320"/>
            <a:ext cx="10332720" cy="502920"/>
          </a:xfrm>
          <a:prstGeom prst="rect">
            <a:avLst/>
          </a:prstGeom>
          <a:noFill/>
        </p:spPr>
        <p:txBody>
          <a:bodyPr wrap="square">
            <a:spAutoFit/>
          </a:bodyPr>
          <a:lstStyle/>
          <a:p>
            <a:pPr algn="ctr">
              <a:defRPr sz="1300" b="1">
                <a:solidFill>
                  <a:srgbClr val="00DAE1"/>
                </a:solidFill>
                <a:latin typeface="Aptos Display"/>
              </a:defRPr>
            </a:pPr>
            <a:r>
              <a:t>PSP (JAVA)  •  PROJECT PRESENTATION</a:t>
            </a:r>
          </a:p>
        </p:txBody>
      </p:sp>
      <p:sp>
        <p:nvSpPr>
          <p:cNvPr id="13" name="TextBox 12"/>
          <p:cNvSpPr txBox="1"/>
          <p:nvPr/>
        </p:nvSpPr>
        <p:spPr>
          <a:xfrm>
            <a:off x="914400" y="2148840"/>
            <a:ext cx="10332720" cy="914400"/>
          </a:xfrm>
          <a:prstGeom prst="rect">
            <a:avLst/>
          </a:prstGeom>
          <a:noFill/>
        </p:spPr>
        <p:txBody>
          <a:bodyPr wrap="square">
            <a:spAutoFit/>
          </a:bodyPr>
          <a:lstStyle/>
          <a:p>
            <a:pPr algn="ctr">
              <a:defRPr sz="4400" b="1">
                <a:solidFill>
                  <a:srgbClr val="F6F9FF"/>
                </a:solidFill>
                <a:latin typeface="Aptos Display"/>
              </a:defRPr>
            </a:pPr>
            <a:r>
              <a:t>Thank You</a:t>
            </a:r>
          </a:p>
        </p:txBody>
      </p:sp>
      <p:sp>
        <p:nvSpPr>
          <p:cNvPr id="14" name="TextBox 13"/>
          <p:cNvSpPr txBox="1"/>
          <p:nvPr/>
        </p:nvSpPr>
        <p:spPr>
          <a:xfrm>
            <a:off x="1828800" y="3246120"/>
            <a:ext cx="8503920" cy="502920"/>
          </a:xfrm>
          <a:prstGeom prst="rect">
            <a:avLst/>
          </a:prstGeom>
          <a:noFill/>
        </p:spPr>
        <p:txBody>
          <a:bodyPr wrap="square">
            <a:spAutoFit/>
          </a:bodyPr>
          <a:lstStyle/>
          <a:p>
            <a:pPr algn="ctr">
              <a:defRPr sz="2200" b="0">
                <a:solidFill>
                  <a:srgbClr val="CEDCF0"/>
                </a:solidFill>
                <a:latin typeface="Aptos"/>
              </a:defRPr>
            </a:pPr>
            <a:r>
              <a:t>Course Registration &amp; Timetable Builder</a:t>
            </a:r>
          </a:p>
        </p:txBody>
      </p:sp>
      <p:sp>
        <p:nvSpPr>
          <p:cNvPr id="15" name="Rectangle 14"/>
          <p:cNvSpPr/>
          <p:nvPr/>
        </p:nvSpPr>
        <p:spPr>
          <a:xfrm>
            <a:off x="4983480" y="4069080"/>
            <a:ext cx="2194560" cy="54864"/>
          </a:xfrm>
          <a:prstGeom prst="rect">
            <a:avLst/>
          </a:prstGeom>
          <a:solidFill>
            <a:srgbClr val="00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0" y="5074920"/>
            <a:ext cx="8503920" cy="411480"/>
          </a:xfrm>
          <a:prstGeom prst="rect">
            <a:avLst/>
          </a:prstGeom>
          <a:noFill/>
        </p:spPr>
        <p:txBody>
          <a:bodyPr wrap="square">
            <a:spAutoFit/>
          </a:bodyPr>
          <a:lstStyle/>
          <a:p>
            <a:pPr algn="ctr">
              <a:defRPr sz="1400" b="0">
                <a:solidFill>
                  <a:srgbClr val="7F99BC"/>
                </a:solidFill>
                <a:latin typeface="Aptos"/>
              </a:defRPr>
            </a:pPr>
            <a:r>
              <a:t>V. Mohith Kamal  •  Sairam Baruvuri  •  Samay Gupta</a:t>
            </a:r>
          </a:p>
        </p:txBody>
      </p:sp>
    </p:spTree>
    <p:extLst>
      <p:ext uri="{BB962C8B-B14F-4D97-AF65-F5344CB8AC3E}">
        <p14:creationId xmlns:p14="http://schemas.microsoft.com/office/powerpoint/2010/main" val="1326871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TotalTime>
  <Words>1090</Words>
  <Application>Microsoft Office PowerPoint</Application>
  <PresentationFormat>Widescreen</PresentationFormat>
  <Paragraphs>133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Mohith Kamal Vydhyabhushana</cp:lastModifiedBy>
  <cp:revision>4</cp:revision>
  <dcterms:created xsi:type="dcterms:W3CDTF">2013-01-27T09:14:16Z</dcterms:created>
  <dcterms:modified xsi:type="dcterms:W3CDTF">2026-10-16T09:16:48Z</dcterms:modified>
  <cp:category/>
</cp:coreProperties>
</file>